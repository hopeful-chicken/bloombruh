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BC5B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Taiwan Semiconductor Mfg. Co.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NYSE: TSM   ·   Semiconductor Foundry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now 66% of wafer revenue, and capex just went up again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11064240" cy="0"/>
          </a:xfrm>
          <a:prstGeom prst="line">
            <a:avLst/>
          </a:prstGeom>
          <a:noFill/>
          <a:ln w="12700">
            <a:solidFill>
              <a:srgbClr val="3C38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____________     Target Price: ____________     Upside/Downside: ____________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Pitch Deck Template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10515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2026: record $40.2bn revenue (+34% YoY), FY guidance raised past 40%, 2026 capex raised to $60-64bn + additional $100bn Arizona investment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see upside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Mix Shift, in One Chart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Computing (AI accelerators) rose 20% sequentially in Q2 2026 alone, now 66% of wafer revenue (vs. smartphones' 22%, down from the largest category as recently as 2022)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70248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53128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Leading-Edge Manufacturing Monopoly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monopoly at the leading edge — no alternative foundry currently matches TSMC's node/volume combination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3296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66176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Runway, By Management's Own Guidance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guides ~25% long-term CAGR; AI-processor revenue growth guided above 50% annually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9834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&amp; Business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 size/growth chart — cite your source directly on the slide]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revenue mix / business model diagram — where does the money actually come from?]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comparables to know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Foundry (not separately listed — directional only)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GlobalFoundries (NASDAQ: GFS)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Microelectronics Corp (NYSE: UMC)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1 — The AI Mix Shift, in One Chart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Computing (AI accelerators) rose 20% sequentially in Q2 2026 alone, now 66% of wafer revenue (vs. smartphones' 22%, down from the largest category as recently as 2022)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2 — Leading-Edge Manufacturing Monopoly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monopoly at the leading edge — no alternative foundry currently matches TSMC's node/volume combination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Is Bearish — Here's the Honest Response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all of TSMC's most advanced capacity is concentrated in Taiwan — real, un-hedgeable geopolitical tail risk.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46520" y="17830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$100bn incremental Arizona investment is a real, if partial, hedge — worth sizing explicitly (what % of leading-edge capacity actually shifts, and on what timeline) rather than treating the risk as binary.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— DCF &amp; Scenario Analysis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Price: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inputs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[?]      Beta: [?]      Equity Risk Premium: [?]      Cost of Debt (pre-tax): [?]      Tax Rate: [?]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4526280"/>
            <a:ext cx="11247120" cy="1554480"/>
          </a:xfrm>
          <a:prstGeom prst="rect">
            <a:avLst/>
          </a:prstGeom>
          <a:solidFill>
            <a:srgbClr val="BC5B33">
              <a:alpha val="8000"/>
            </a:srgbClr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this in Excel — don't guess at a DCF freehand.
</a:t>
            </a:r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DCF and Trading Comps templates at bloombruh.com/templates — pick "Taiwan Semiconductor Mfg. Co." or the closest available sector match. Every cell is a live formula prefilled with real data; you only need to adjust the assumptions above.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Catalysts, Risks &amp; Appendix Checklist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timeline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5257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2-3 near-term dated events that would confirm or break this thesis — e.g. next earnings date, a specific regulatory decision, a contract renewal]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45920"/>
            <a:ext cx="5166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geographic concentration; secondary customer-concentration risk (Nvidia, Apple, AMD).
</a:t>
            </a:r>
            <a:pPr indent="0" marL="0">
              <a:buNone/>
            </a:pPr>
            <a:r>
              <a:rPr lang="en-US" sz="11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[?]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checklist — what a complete pack needs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DCF output + sensitivity table (price target vs. WACC and terminal growth/exit multiple)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2026-08-05T15:29:37Z</dcterms:created>
  <dcterms:modified xsi:type="dcterms:W3CDTF">2026-08-05T15:29:37Z</dcterms:modified>
</cp:coreProperties>
</file>