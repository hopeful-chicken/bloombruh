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191.34</c:v>
                </c:pt>
                <c:pt idx="1">
                  <c:v>315.54</c:v>
                </c:pt>
                <c:pt idx="2">
                  <c:v>502.24</c:v>
                </c:pt>
                <c:pt idx="3">
                  <c:v>406.11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Taiwan Semiconductor Mfg. Co.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Taiwan Semiconductor Mfg. Co. (NYSE: TSM)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$406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$331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(-18.5%)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 now 66% of wafer revenue, and capex just went up again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2026: record $40.2bn revenue (+34% YoY), FY guidance raised past 40%, 2026 capex raised to $60-64bn + additional $100bn Arizona investment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Mix Shift, in One Chart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Computing (AI accelerators) rose 20% sequentially in Q2 2026 alone, now 66% of wafer revenue (vs. smartphones' 22%, down from the largest category as recently as 2022)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Leading-Edge Manufacturing Monopoly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monopoly at the leading edge — no alternative foundry currently matches TSMC's node/volume combination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Runway, By Management's Own Guidance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guides ~25% long-term CAGR; AI-processor revenue growth guided above 50% annually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Mix Shift, in One Chart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Leading-Edge Manufacturing Monopoly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Runway, By Management's Own Guidance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geographic concentration; secondary customer-concentration risk (Nvidia, Apple, AMD).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Foundry — Where Taiwan Semiconductor Mfg. Co.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Foundry (not separately listed — directional only)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GlobalFoundries (NASDAQ: GFS)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Microelectronics Corp (NYSE: UMC)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Mix Shift, in One Chart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Computing (AI accelerators) rose 20% sequentially in Q2 2026 alone, now 66% of wafer revenue (vs. smartphones' 22%, down from the largest category as recently as 2022)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Leading-Edge Manufacturing Monopoly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monopoly at the leading edge — no alternative foundry currently matches TSMC's node/volume combination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TSMC's most advanced capacity is concentrated in Taiwan — real, un-hedgeable geopolitical tail risk.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$100bn incremental Arizona investment is a real, if partial, hedge — worth sizing explicitly (what % of leading-edge capacity actually shifts, and on what timeline) rather than treating the risk as binary.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4.62%      Beta: 1.25      Equity Risk Premium: 5%      Cost of Equity: 10.87%      After-Tax Cost of Debt: 4%      Weight E/D: 100% / 0%      WACC: 10.9%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Taiwan Semiconductor Mfg. Co.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314,592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158,688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193,789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126,950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142,196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155,031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83,520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103,815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97,440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112,646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126,104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noted; modeled on a USD-per-ADS basis (1 ADS = 5 ordinary shares)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401,468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1,929,759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1,151,948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1,553,416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2,106,086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geographic concentration; secondary customer-concentration risk (Nvidia, Apple, AMD).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$406.11 (4 Aug 2026, 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~5,186m ADS-equivalent (25.93bn ordinary shares ÷ 5 ADS ratio — the raw 25.93bn figure from aggregators is ordinary shares, not ADS; converted for USD-per-ADS consistency with the $406.11 quote)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~$83bn (NT$3,518bn cash &amp; securities less NT$864bn long-term debt = ~NT$2,654bn, converted at ~NT$32/$) — TSMC Q2 2026 Form 6-K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10-year Treasury yield, 4.62% (5 Aug 2026) — used since TSM trades as a USD-denominated NYSE ADR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FY2026E ~$160bn, annualized from Q2 2026 revenue of $40.2bn against full-year guidance of growth 'slightly above 40%' YoY — this is a MODELED annualization, not a company-stated full-year dollar figure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~57.5%, midpoint of Q2/Q3 2026 guided operating margin range (56.5-58.5% / 56-58%)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continues the &gt;40%-guided 2026 pace annualizing down; tapering as AI-accelerator demand normalizes off an extraordinary base and HPC mix (66% of wafer revenue) matures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Taiwan Semiconductor Mfg. Co.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