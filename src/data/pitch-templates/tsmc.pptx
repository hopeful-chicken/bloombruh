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7"/>
    <p:sldId id="259" r:id="rId5"/>
    <p:sldId id="260" r:id="rId6"/>
    <p:sldId id="267" r:id="rId18"/>
    <p:sldId id="261" r:id="rId7"/>
    <p:sldId id="262" r:id="rId8"/>
    <p:sldId id="264" r:id="rId10"/>
    <p:sldId id="268" r:id="rId19"/>
    <p:sldId id="269" r:id="rId20"/>
    <p:sldId id="263" r:id="rId9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3.xml"/><Relationship Id="rId10" Type="http://schemas.openxmlformats.org/officeDocument/2006/relationships/slide" Target="slides/slide10.xml"/><Relationship Id="rId11" Type="http://schemas.openxmlformats.org/officeDocument/2006/relationships/slide" Target="slides/slide14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7.xml"/><Relationship Id="rId19" Type="http://schemas.openxmlformats.org/officeDocument/2006/relationships/slide" Target="slides/slide11.xml"/><Relationship Id="rId20" Type="http://schemas.openxmlformats.org/officeDocument/2006/relationships/slide" Target="slides/slide12.xm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Arial"/>
              </a:rPr>
              <a:t>Implied Price ($)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Price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F6B6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7D5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6241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Bear</c:v>
                  </c:pt>
                  <c:pt idx="1">
                    <c:v>Base</c:v>
                  </c:pt>
                  <c:pt idx="2">
                    <c:v>Bull</c:v>
                  </c:pt>
                  <c:pt idx="3">
                    <c:v>Current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191.34</c:v>
                </c:pt>
                <c:pt idx="1">
                  <c:v>315.54</c:v>
                </c:pt>
                <c:pt idx="2">
                  <c:v>502.24</c:v>
                </c:pt>
                <c:pt idx="3">
                  <c:v>406.11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0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indent="0" marL="0">
              <a:buNone/>
            </a:pPr>
            <a:r>
              <a:rPr lang="en-US" sz="26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DECK TEMPLATE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Taiwan Semiconductor Mfg. Co.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731520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560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[LONG / AVOID TSMC (NYSE: TSM)</a:t>
            </a:r>
            <a:pPr indent="0" marL="0">
              <a:buNone/>
            </a:pP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[INSERT price + date pulled]    |    Target Price: [INSERT yours] ([INSERT % upside/downside])</a:t>
            </a: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rules before you present: (1) a LONG target must sit ABOVE today's price — if your DCF lands below it, the honest pitch is AVOID or SHORT (a short won OAF — see the Altria reference deck).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Check units (pence vs £, ADS ratios, reporting-vs-quote currency) — a unit slip makes any target look wildly wrong. (3) Compare your target with the 52-week range; outside it needs a very good reason.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5257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modeled on real Varsity Pitch Competition / OAF-style decks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5715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172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your pitch to present as your own — fill in your name above.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[e.g. 'AI is now 66% of wafer revenue — the mix shift is structural, and capex just confirmed it']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SUMMARY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548640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91640"/>
            <a:ext cx="5486400" cy="77724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7373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Consensus thinks: [INSERT — e.g. the market alternates between treating TSMC as an AI infrastructure play and discounting it for Taiwan risk]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think: [INSERT your one-line disagreement — e.g. the capex raise is a forward demand signal, not a cost, and the mix shift to HPC is still being priced as cyclical]</a:t>
            </a:r>
            <a:pPr indent="0" marL="0">
              <a:buNone/>
            </a:pP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606040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93522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1 — [CLAIM, e.g. 'AI/HPC at 66% of wafer revenue is a structural mix shift, not a spike']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227832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904488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90448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23367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2 — [CLAIM, e.g. 'Capex is the most honest forward indicator in semis — and it just went up']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5202936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5321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3 — [CLAIM, e.g. 'Leading-edge pricing power shows up in margins even through capex cycles']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582472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280160"/>
            <a:ext cx="5486400" cy="210312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355080" y="12801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12-month share-price chart vs a relevant index, with the trigger event annotated. Every winning deck opens with this.]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265176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25" name="Text 23"/>
          <p:cNvSpPr/>
          <p:nvPr/>
        </p:nvSpPr>
        <p:spPr>
          <a:xfrm>
            <a:off x="629107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SEE UPSIDE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764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[[CLAIM, e.g. 'AI/HPC at 66% of wafer revenue is a structural]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[[CLAIM, e.g. 'Capex is the most honest forward indicator in ]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[[CLAIM, e.g. 'Leading-edge pricing power shows up in margins]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052560" y="3520440"/>
            <a:ext cx="265176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9" name="Text 27"/>
          <p:cNvSpPr/>
          <p:nvPr/>
        </p:nvSpPr>
        <p:spPr>
          <a:xfrm>
            <a:off x="912571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05256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6228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— e.g. a Taiwan geopolitical event is unpriceable by comps, and a post-spike digestion cycle could hit just as Arizona dilutes margins]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BUSINESS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Semiconductor Foundry — The Leading-Edge Monopoly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356616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3419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INDUSTRY DRIVERS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35661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33467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driver 1 — e.g. AI accelerator demand from Nvidia/AMD/Broadcom, with source]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driver 2 — e.g. node migration pricing (3nm→2nm)]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driver 3 — e.g. geographic diversification progress]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60520" y="1280160"/>
            <a:ext cx="3794760" cy="237744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297680" y="128016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market-size or growth chart with a CAGR annotation. This chart is the first thing judges look at on this slide.]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92440" y="1280160"/>
            <a:ext cx="361188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13" name="Text 11"/>
          <p:cNvSpPr/>
          <p:nvPr/>
        </p:nvSpPr>
        <p:spPr>
          <a:xfrm>
            <a:off x="8165592" y="1280160"/>
            <a:ext cx="3465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COMPANIES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1609344"/>
            <a:ext cx="361188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2168" y="1664208"/>
            <a:ext cx="339242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GlobalFoundries (NASDAQ: GFS)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UMC (NYSE: UMC)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[Samsung Foundry is not separately listed — say so]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[Note: no true leading-edge peer exists — make that explicit]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08736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206240"/>
            <a:ext cx="5486400" cy="219456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20624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4-5 box diagram — fabless designers (Nvidia, Apple, AMD) → TSMC leading-edge capacity → wafer revenue + pricing power]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20624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21" name="Text 19"/>
          <p:cNvSpPr/>
          <p:nvPr/>
        </p:nvSpPr>
        <p:spPr>
          <a:xfrm>
            <a:off x="6291072" y="420624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COMPETITIVE ADVANTAGES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4535424"/>
            <a:ext cx="5486400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27648" y="4590288"/>
            <a:ext cx="526694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moat 1 — e.g. process-technology lead competitors cannot buy]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moat 2 — customer switching costs at 3nm/2nm]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moat 3]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EXPECTATIONS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Current Share Price Already Assumes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your theses, show what the market already prices in — your pitch lives in the gap between that and your own forecast.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the workbook's Reverse DCF tab (Excel Goal Seek) solves for the growth the current price implies.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reverse-DCF table — columns: Metric | Historical | Implied by current price | Your forecast | Gap.</a:t>
            </a:r>
            <a:endParaRPr lang="en-US" sz="1050" dirty="0"/>
          </a:p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Rows: revenue CAGR, operating margin, EPS growth. Historicals from the latest filings; 'implied' from the workbook's Reverse tab; 'your forecast' from your DCF.</a:t>
            </a:r>
            <a:endParaRPr lang="en-US" sz="1050" dirty="0"/>
          </a:p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single biggest differentiator in the winning decks.]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1 — [CLAIM, e.g. 'AI/HPC at 66% of wafer revenue is a structural mix shift, not a spike']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quarterly HPC share of wafer revenue from earnings slides (66% now vs smartphone-dominated 22%). Chart: segment mix over 3 years — this is your core thesis metric, track it every quarter.]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2 — [CLAIM, e.g. 'Capex is the most honest forward indicator in semis — and it just went up']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2026 capex raised to $60-64bn plus the $100bn Arizona commitment; history of capex leading revenue by 2-4 quarters. Chart: capex vs forward revenue, 10 years.]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3 — [CLAIM, e.g. 'Leading-edge pricing power shows up in margins even through capex cycles']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node-by-node (3nm/5nm) revenue and margin commentary from the earnings call transcript; gross margin through past cycles. Chart: gross margin vs utilisation.]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 IS BEARISH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Bear Case — and the Honest Response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4068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294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4068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212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the strongest bear version — build it explicitly around a Taiwan geopolitical scenario AND a capex-digestion cycle, not a generic demand slowdown. Arizona dilutes margins while adding only partial risk removal.]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numbered answers — e.g. 1) AI revenue is reported fact growing &gt;50% annually; 2) capex is raised on committed customer demand; 3) Arizona/Japan fabs partially hedge geography — quantify how much.]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&amp; Scenario Analysis — Bear / Base / Bull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858000" cy="201168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driver deltas]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weight]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'as modeled' + key drivers]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weight]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driver deltas]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weight]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</a:tr>
              <a:tr h="40233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 hMerge="1">
                  <a:txBody>
                    <a:bodyPr/>
                    <a:p>
                      <a: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[=target vs current price]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336499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scenario weights and growth/margin multipliers as modeling assumptions — judges will ask you to defend them out loud.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457200" y="3703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BUILD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399592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57200" y="4114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Risk-free: current 10-yr UST (ADR) | beta from stockanalysis.com | ERP 5% | model in USD per ADS. CRITICAL: 1 ADS = 5 ordinary shares — set shares outstanding accordingly (ordinary ÷ 5) or your per-share value is 5x wrong. Divisor 1. [INSERT your values]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4709160"/>
            <a:ext cx="11247120" cy="13716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" y="4828032"/>
            <a:ext cx="10881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provenance: 'All figures from the accompanying DCF workbook; every input sourced on its Sources tab.'</a:t>
            </a:r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the workbook open in Q&amp;A — walking a judge through one formula live is worth more than any slide.</a:t>
            </a:r>
            <a:pPr indent="0" marL="0">
              <a:buNone/>
            </a:pP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16" name="TextBox 15"/>
          <p:cNvSpPr txBox="1"/>
          <p:nvPr/>
        </p:nvSpPr>
        <p:spPr>
          <a:xfrm>
            <a:off x="7452360" y="1280160"/>
            <a:ext cx="4251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46464"/>
                </a:solidFill>
              </a:rPr>
              <a:t>[INSERT: Bear/Base/Bull target-price bar chart from the workbook, colour-coded]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CATALYSTS &amp; RISKS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We Win &amp; What Could Break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/ CATALYST TIMELINE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next quarterly results date]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next monthly revenue print (TSMC discloses monthly!)]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Arizona fab production milestone]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risk 1 — Taiwan geopolitics] → [mitigant — unpriceable; size the discount explicitly and say so]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risk 2 — capex digestion] → [mitigant — capex follows committed demand; monthly revenue is an early warning]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risk 3] → [mitigant 3]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657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CHECKLIST — WHAT A COMPLETE PACK NEEDS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069080"/>
            <a:ext cx="11247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PRESENT: target consistent with your stance (long = above price) · units checked (pence vs £, ADS ratios, currencies) · every number sourced · comps table complete · you can defend WACC and scenario weights out loud · live quote re-pulled that morning.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Comparable Companies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3291840"/>
        </p:xfrm>
        <a:graphic>
          <a:graphicData uri="http://schemas.openxmlformats.org/drawingml/2006/table">
            <a:tbl>
              <a:tblPr/>
              <a:tblGrid>
                <a:gridCol w="2011680"/>
                <a:gridCol w="987552"/>
                <a:gridCol w="987552"/>
                <a:gridCol w="987552"/>
                <a:gridCol w="987552"/>
                <a:gridCol w="9875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EV/EBITDA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P/E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Rev. growth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Mkt cap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GlobalFoundries (NASDAQ: GFS)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UMC (NYSE: UMC)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optional 3rd]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optional 4th]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TSMC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in USD millions unless noted; modeled on a USD-per-ADS basis (1 ADS = 5 ordinary shares)</a:t>
            </a:r>
            <a:endParaRPr lang="en-US" sz="9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280160"/>
          <a:ext cx="4114800" cy="155448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31089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pull the numbers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xBody>
                    <a:bodyPr/>
                    <a:p>
                      <a:r>
                        <a:t/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EV/EBITDA, P/E, growth, margins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stockanalysis.com → company page → Statistics / Financials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stockanalysis.com or the exchange — same day for all comps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macrotrends.net (free, no login)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+ target rows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computed live in the workbook's Comps tab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971800"/>
          <a:ext cx="4114800" cy="192024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274320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these comps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xBody>
                    <a:bodyPr/>
                    <a:p>
                      <a:r>
                        <a:t/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GFS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Listed foundry, trailing nodes — directional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Mature-node foundry — directional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Honesty 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true leading-edge peer; Samsung Foundry is unlisted — say 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judge asks why your target should trade above/below the median, answer with growth, margin, and ROIC differences — have that one sentence ready.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Porter's Five Forces &amp; Management / Insiders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4068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294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4068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212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rivalry: [High / Med / Low — one line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power: [rating +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power: [rating +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of new entrants: [rating +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of substitutes: [rating + why]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&amp; INSIDERS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Insider/ownership: [INSERT — government stake, institutional mix from 20-F]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dealings: [INSERT]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record: [INSERT — capex discipline through past cycles]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Incentives: [INSERT — remuneration report highlights]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Summary — [Base Case]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3291840"/>
        </p:xfrm>
        <a:graphic>
          <a:graphicData uri="http://schemas.openxmlformats.org/drawingml/2006/table">
            <a:tbl>
              <a:tblPr/>
              <a:tblGrid>
                <a:gridCol w="2011680"/>
                <a:gridCol w="987552"/>
                <a:gridCol w="987552"/>
                <a:gridCol w="987552"/>
                <a:gridCol w="987552"/>
                <a:gridCol w="9875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EBIT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NOPAT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Plus: D&amp;A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Capex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Incr. NWC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Unlevered FCF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in USD millions unless noted; modeled on a USD-per-ADS basis (1 ADS = 5 ordinary shares)</a:t>
            </a:r>
            <a:endParaRPr lang="en-US" sz="9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280160"/>
          <a:ext cx="4114800" cy="155448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31089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PV of FCF (Yr 1-5)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 of 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971800"/>
          <a:ext cx="4114800" cy="192024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274320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Capitalization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(for weighting)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of Equity /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Equity (CAPM)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After-Tax Cost of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every cell by copying from your workbook, never retyping. All in the company's reporting currency (millions) unless noted. The workbook has the live Bear/Base/Bull re-derivation and a Sources tab.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&amp; Data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7043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hardcoded number in the deck — where it came from and when you pulled it. Re-verify against a live quote the morning you present.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4480560"/>
        </p:xfrm>
        <a:graphic>
          <a:graphicData uri="http://schemas.openxmlformats.org/drawingml/2006/table">
            <a:tbl>
              <a:tblPr/>
              <a:tblGrid>
                <a:gridCol w="2560320"/>
                <a:gridCol w="8686800"/>
              </a:tblGrid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/ 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price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Shares outstanding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/ net cash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Risk-free 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operating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growth 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2026-08-06T04:30:31Z</dcterms:created>
  <dcterms:modified xsi:type="dcterms:W3CDTF">2026-08-06T04:30:31Z</dcterms:modified>
</cp:coreProperties>
</file>