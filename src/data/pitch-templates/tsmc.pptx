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BC5B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Taiwan Semiconductor Mfg. Co.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NYSE: TSM   ·   Semiconductor Foundry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now 66% of wafer revenue, and capex just went up again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11064240" cy="0"/>
          </a:xfrm>
          <a:prstGeom prst="line">
            <a:avLst/>
          </a:prstGeom>
          <a:noFill/>
          <a:ln w="12700">
            <a:solidFill>
              <a:srgbClr val="3C38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____________     Target Price: ____________     Upside/Downside: ____________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     Date: ____________________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Pitch Deck Template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0515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887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the trigger
</a:t>
            </a:r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2026: record $40.2bn revenue (+34% YoY), FY guidance raised past 40%, 2026 capex raised to $60-64bn + additional $100bn Arizona investment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see upside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Mix Shift, in One Chart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Computing (AI accelerators) rose 20% sequentially in Q2 2026 alone, now 66% of wafer revenue (vs. smartphones' 22%, down from the largest category as recently as 2022)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0248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53128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Leading-Edge Manufacturing Monopoly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3128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monopoly at the leading edge — no alternative foundry currently matches TSMC's node/volume combination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3296" y="2834640"/>
            <a:ext cx="36301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66176" y="342900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Runway, By Management's Own Guidance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3977640"/>
            <a:ext cx="3264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guides ~25% long-term CAGR; AI-processor revenue growth guided above 50% annually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498348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498348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stock price chart, last 12 months, vs. a relevant sector index — annotate the trigger date directly on the chart]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Taiwan Semiconductor Mfg. Co.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&amp; Business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94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industry size/growth chart — cite your source directly on the slide]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2200" y="114300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309360" y="1143000"/>
            <a:ext cx="5257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revenue mix / business model diagram — where does the money actually come from?]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comparables to know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Foundry (not separately listed — directional only)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GlobalFoundries (NASDAQ: GFS)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Microelectronics Corp (NYSE: UMC)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Taiwan Semiconductor Mfg. Co.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1 — The AI Mix Shift, in One Chart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Computing (AI accelerators) rose 20% sequentially in Q2 2026 alone, now 66% of wafer revenue (vs. smartphones' 22%, down from the largest category as recently as 2022)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Taiwan Semiconductor Mfg. Co.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Thesis 2 — Leading-Edge Manufacturing Monopoly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solidFill>
            <a:srgbClr val="BC5B3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monopoly at the leading edge — no alternative foundry currently matches TSMC's node/volume combination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10972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pull it from a primary source, not a summary of one. See this pitch's Research Toolkit for exactly where to look.]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Taiwan Semiconductor Mfg. Co.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Street Is Bearish — Here's the Honest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of TSMC's most advanced capacity is concentrated in Taiwan — real, un-hedgeable geopolitical tail risk.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$100bn incremental Arizona investment is a real, if partial, hedge — worth sizing explicitly (what % of leading-edge capacity actually shifts, and on what timeline) rather than treating the risk as binary.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Taiwan Semiconductor Mfg. Co.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— DCF &amp; Scenario Analysis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 Delta vs.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Upside/(Downside)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x0.55, WACC +100bp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modeled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x1.35, WACC -100bp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Target Price: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461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(25/50/25) and the Bear/Bull growth-and-margin multipliers are stated modeling assumptions, not sourced figures — change them freely to reflect your own view. Full build in the downloadable DCF workbook (this pitch's Research Toolkit).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inputs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rate: 4.62%      Beta: 1.25      Equity Risk Premium: 5%      Cost of Debt (pre-tax): 5%      Tax Rate: 20%      WACC: 10.9%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26280"/>
            <a:ext cx="11247120" cy="1554480"/>
          </a:xfrm>
          <a:prstGeom prst="rect">
            <a:avLst/>
          </a:prstGeom>
          <a:solidFill>
            <a:srgbClr val="BC5B33">
              <a:alpha val="8000"/>
            </a:srgbClr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46634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real, not a placeholder — pulled from the actual DCF workbook.
</a:t>
            </a:r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full Taiwan Semiconductor Mfg. Co. DCF workbook (this pitch's Research Toolkit) for the complete 5-year FCF build behind every number above, plus a live Bear/Base/Bull sheet where you can change any assumption and watch the target price recompute. Every hardcoded input there is sourced — see this deck's final Sources slide, or the workbook's own Sources tab.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Taiwan Semiconductor Mfg. Co.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Catalysts, Risks &amp; Appendix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timeline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5257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2-3 near-term dated events that would confirm or break this thesis — e.g. next earnings date, a specific regulatory decision, a contract renewal]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2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0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45920"/>
            <a:ext cx="5166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geographic concentration; secondary customer-concentration risk (Nvidia, Apple, AMD).
</a:t>
            </a:r>
            <a:pPr indent="0" marL="0">
              <a:buNone/>
            </a:pPr>
            <a:r>
              <a:rPr lang="en-US" sz="11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[?]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checklist — what a complete pack needs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11247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comparable companies table (margins, growth, EV/EBITDA, P/E — see this pitch's Research Toolkit for real comps)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for the industry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M&amp;A transactions in the sector, if relevant to the thesis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Management/insider activity summary (recent buying or selling, ownership %)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output + Bear/Base/Bull sensitivity — done on the previous slide and in the downloadable workbook; re-run it with your own view on growth, margin, or WACC before you present it as yours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number in this deck sourced on the next slide — cite the same sources yourself, don't just cite this deck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Taiwan Semiconductor Mfg. Co.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Data Appendix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hardcoded number used to build the valuation on the DCF slide — where it came from, compiled August 2026. A dated snapshot, not a live feed: verify against a live quote before you present this.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/>
              <a:tblGrid>
                <a:gridCol w="2560320"/>
                <a:gridCol w="86868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$406.11 (4 Aug 2026, stockanalysis.com)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~5,186m ADS-equivalent (25.93bn ordinary shares ÷ 5 ADS ratio — the raw 25.93bn figure from aggregators is ordinary shares, not ADS; converted for USD-per-ADS consistency with the $406.11 quote)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/ net cash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~$83bn (NT$3,518bn cash &amp; securities less NT$864bn long-term debt = ~NT$2,654bn, converted at ~NT$32/$) — TSMC Q2 2026 Form 6-K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 (stockanalysis.com)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10-year Treasury yield, 4.62% (5 Aug 2026) — used since TSM trades as a USD-denominated NYSE ADR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 ~$160bn, annualized from Q2 2026 revenue of $40.2bn against full-year guidance of growth 'slightly above 40%' YoY — this is a MODELED annualization, not a company-stated full-year dollar figure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operating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~57.5%, midpoint of Q2/Q3 2026 guided operating margin range (56.5-58.5% / 56-58%)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E0D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continues the &gt;40%-guided 2026 pace annualizing down; tapering as AI-accelerator demand normalizes off an extraordinary base and HPC mix (66% of wafer revenue) matures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B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Taiwan Semiconductor Mfg. Co.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2026-08-06T04:01:12Z</dcterms:created>
  <dcterms:modified xsi:type="dcterms:W3CDTF">2026-08-06T04:01:12Z</dcterms:modified>
</cp:coreProperties>
</file>