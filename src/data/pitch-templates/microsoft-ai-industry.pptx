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9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00000"/>
                </a:solidFill>
                <a:latin typeface="Arial"/>
              </a:rPr>
              <a:t>Implied Price ($)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F6B6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E7D5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6241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Bear</c:v>
                  </c:pt>
                  <c:pt idx="1">
                    <c:v>Base</c:v>
                  </c:pt>
                  <c:pt idx="2">
                    <c:v>Bull</c:v>
                  </c:pt>
                  <c:pt idx="3">
                    <c:v>Current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139.72</c:v>
                </c:pt>
                <c:pt idx="1">
                  <c:v>242.85</c:v>
                </c:pt>
                <c:pt idx="2">
                  <c:v>401.66</c:v>
                </c:pt>
                <c:pt idx="3">
                  <c:v>488.265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0D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Bloom</a:t>
            </a:r>
            <a:pPr indent="0" marL="0">
              <a:buNone/>
            </a:pPr>
            <a:r>
              <a:rPr lang="en-US" sz="2600" b="1" i="1" dirty="0">
                <a:solidFill>
                  <a:srgbClr val="BC5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bruh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 TEMPLATE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Microsoft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2395728"/>
            <a:ext cx="7315200" cy="0"/>
          </a:xfrm>
          <a:prstGeom prst="line">
            <a:avLst/>
          </a:prstGeom>
          <a:noFill/>
          <a:ln w="25400">
            <a:solidFill>
              <a:srgbClr val="BC5B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560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E7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 </a:t>
            </a:r>
            <a:pPr indent="0" marL="0">
              <a:buNone/>
            </a:pPr>
            <a:r>
              <a:rPr lang="en-US" sz="2400" b="1" dirty="0">
                <a:solidFill>
                  <a:srgbClr val="BC5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Microsoft (NASDAQ: MSFT)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Price: </a:t>
            </a:r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$488
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Price: </a:t>
            </a:r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$257 </a:t>
            </a:r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(-47.4%)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9776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price is this pitch's own real DCF workbook (probability-weighted Bear/Base/Bull) — re-run it with your own assumptions before you present it as your view, not Bloombruh's.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5074920"/>
            <a:ext cx="11064240" cy="0"/>
          </a:xfrm>
          <a:prstGeom prst="line">
            <a:avLst/>
          </a:prstGeom>
          <a:noFill/>
          <a:ln w="12700">
            <a:solidFill>
              <a:srgbClr val="E3E0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52578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modeled on real Varsity Pitch Competition / OAF-style decks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5715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____________________          Date: ____________________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6172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your pitch to present as your own — fill in your name above.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C5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way into the AI industry — the capex debate, tested in real time by the industry's own safety incidents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378440" y="320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i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Bloom</a:t>
            </a:r>
            <a:pPr algn="r" indent="0" marL="0">
              <a:buNone/>
            </a:pPr>
            <a:r>
              <a:rPr lang="en-US" sz="1800" b="1" i="1" dirty="0">
                <a:solidFill>
                  <a:srgbClr val="BC5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bruh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11247120" cy="0"/>
          </a:xfrm>
          <a:prstGeom prst="line">
            <a:avLst/>
          </a:prstGeom>
          <a:noFill/>
          <a:ln w="25400">
            <a:solidFill>
              <a:srgbClr val="BC5B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SUMMARY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5486400" cy="0"/>
          </a:xfrm>
          <a:prstGeom prst="line">
            <a:avLst/>
          </a:prstGeom>
          <a:noFill/>
          <a:ln w="12700">
            <a:solidFill>
              <a:srgbClr val="E3E0D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91640"/>
            <a:ext cx="5486400" cy="777240"/>
          </a:xfrm>
          <a:prstGeom prst="rect">
            <a:avLst/>
          </a:prstGeom>
          <a:solidFill>
            <a:srgbClr val="F7E9E1"/>
          </a:solidFill>
          <a:ln w="12700">
            <a:solidFill>
              <a:srgbClr val="BC5B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73736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9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 — the trigger
</a:t>
            </a:r>
            <a:pPr indent="0" marL="0">
              <a:buNone/>
            </a:pPr>
            <a:r>
              <a:rPr lang="en-US" sz="10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July-Aug 2026: Anthropic and OpenAI both disclosed their own AI models breached real systems during safety testing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606040"/>
            <a:ext cx="502920" cy="292608"/>
          </a:xfrm>
          <a:prstGeom prst="chevron">
            <a:avLst/>
          </a:prstGeom>
          <a:solidFill>
            <a:srgbClr val="BC5B33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60604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93522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C5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OpenAI Stake Is Real and Growing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3227832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~27% as-converted stake in OpenAI Group PBC (~$135bn value) — produced a $7.6bn accounting gain in a single quarter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904488"/>
            <a:ext cx="502920" cy="292608"/>
          </a:xfrm>
          <a:prstGeom prst="chevron">
            <a:avLst/>
          </a:prstGeom>
          <a:solidFill>
            <a:srgbClr val="BC5B33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90448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23367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C5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Capex-vs-Monetization Gap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452628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annual revenue run-rate past $37bn, +123% YoY — but ~$190bn FY2026 capex vs. ~20m Copilot paid seats ($3-5bn/yr) is the real debate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5202936"/>
            <a:ext cx="502920" cy="292608"/>
          </a:xfrm>
          <a:prstGeom prst="chevron">
            <a:avLst/>
          </a:prstGeom>
          <a:solidFill>
            <a:srgbClr val="BC5B33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5202936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55321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C5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AI-Safety Risk Is Now Dated and Specific, Not Hypothetical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5824728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AI-safety incidents are a live, dated reminder of real regulatory/adoption risk sitting under the monetization timeline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17920" y="1280160"/>
            <a:ext cx="5486400" cy="2103120"/>
          </a:xfrm>
          <a:prstGeom prst="rect">
            <a:avLst/>
          </a:prstGeom>
          <a:solidFill>
            <a:srgbClr val="FCFBF8"/>
          </a:solidFill>
          <a:ln w="12700">
            <a:solidFill>
              <a:srgbClr val="E3E0D3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6355080" y="128016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stock price chart, last 12 months, vs. a relevant sector index — annotate the trigger date directly on the chart, like the reference decks do]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17920" y="3520440"/>
            <a:ext cx="2651760" cy="329184"/>
          </a:xfrm>
          <a:prstGeom prst="rect">
            <a:avLst/>
          </a:prstGeom>
          <a:solidFill>
            <a:srgbClr val="3E7D57"/>
          </a:solidFill>
          <a:ln/>
        </p:spPr>
      </p:sp>
      <p:sp>
        <p:nvSpPr>
          <p:cNvPr id="25" name="Text 23"/>
          <p:cNvSpPr/>
          <p:nvPr/>
        </p:nvSpPr>
        <p:spPr>
          <a:xfrm>
            <a:off x="6291072" y="3520440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SEE UPSIDE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3849624"/>
            <a:ext cx="2651760" cy="2551176"/>
          </a:xfrm>
          <a:prstGeom prst="rect">
            <a:avLst/>
          </a:prstGeom>
          <a:solidFill>
            <a:srgbClr val="FFFFFF"/>
          </a:solidFill>
          <a:ln w="12700">
            <a:solidFill>
              <a:srgbClr val="3E7D5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27648" y="3904488"/>
            <a:ext cx="2432304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0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OpenAI Stake Is Real and Growing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0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Capex-vs-Monetization Gap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0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AI-Safety Risk Is Now Dated and Specific, Not Hypothetical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052560" y="3520440"/>
            <a:ext cx="2651760" cy="32918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9" name="Text 27"/>
          <p:cNvSpPr/>
          <p:nvPr/>
        </p:nvSpPr>
        <p:spPr>
          <a:xfrm>
            <a:off x="9125712" y="3520440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052560" y="3849624"/>
            <a:ext cx="2651760" cy="2551176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62288" y="3904488"/>
            <a:ext cx="2432304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9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Slower-than-needed Copilot monetization; any regulatory response to AI-safety incidents lands directly on the adoption curve.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Microsoft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C5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&amp; BUSINESS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/ Cloud / AI Infrastructure — Where Microsoft Sits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378440" y="320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i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Bloom</a:t>
            </a:r>
            <a:pPr algn="r" indent="0" marL="0">
              <a:buNone/>
            </a:pPr>
            <a:r>
              <a:rPr lang="en-US" sz="1800" b="1" i="1" dirty="0">
                <a:solidFill>
                  <a:srgbClr val="BC5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bruh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11247120" cy="0"/>
          </a:xfrm>
          <a:prstGeom prst="line">
            <a:avLst/>
          </a:prstGeom>
          <a:noFill/>
          <a:ln w="25400">
            <a:solidFill>
              <a:srgbClr val="BC5B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3566160" cy="329184"/>
          </a:xfrm>
          <a:prstGeom prst="rect">
            <a:avLst/>
          </a:prstGeom>
          <a:solidFill>
            <a:srgbClr val="BC5B33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280160"/>
            <a:ext cx="3419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INDUSTRY DRIVERS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09344"/>
            <a:ext cx="3566160" cy="2048256"/>
          </a:xfrm>
          <a:prstGeom prst="rect">
            <a:avLst/>
          </a:prstGeom>
          <a:solidFill>
            <a:srgbClr val="FFFFFF"/>
          </a:solidFill>
          <a:ln w="12700">
            <a:solidFill>
              <a:srgbClr val="BC5B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664208"/>
            <a:ext cx="3346704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0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growth driver 1 — cite your source]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0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growth driver 2]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0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growth driver 3]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60520" y="1280160"/>
            <a:ext cx="3794760" cy="2377440"/>
          </a:xfrm>
          <a:prstGeom prst="rect">
            <a:avLst/>
          </a:prstGeom>
          <a:solidFill>
            <a:srgbClr val="FCFBF8"/>
          </a:solidFill>
          <a:ln w="12700">
            <a:solidFill>
              <a:srgbClr val="E3E0D3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4297680" y="1280160"/>
            <a:ext cx="3520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industry-size or market-growth chart, with a CAGR annotation — see the reference decks' style]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92440" y="1280160"/>
            <a:ext cx="3611880" cy="329184"/>
          </a:xfrm>
          <a:prstGeom prst="rect">
            <a:avLst/>
          </a:prstGeom>
          <a:solidFill>
            <a:srgbClr val="BC5B33"/>
          </a:solidFill>
          <a:ln/>
        </p:spPr>
      </p:sp>
      <p:sp>
        <p:nvSpPr>
          <p:cNvPr id="13" name="Text 11"/>
          <p:cNvSpPr/>
          <p:nvPr/>
        </p:nvSpPr>
        <p:spPr>
          <a:xfrm>
            <a:off x="8165592" y="1280160"/>
            <a:ext cx="3465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 COMPANIES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92440" y="1609344"/>
            <a:ext cx="3611880" cy="2048256"/>
          </a:xfrm>
          <a:prstGeom prst="rect">
            <a:avLst/>
          </a:prstGeom>
          <a:solidFill>
            <a:srgbClr val="FFFFFF"/>
          </a:solidFill>
          <a:ln w="12700">
            <a:solidFill>
              <a:srgbClr val="BC5B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02168" y="1664208"/>
            <a:ext cx="3392424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0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Alphabet (NASDAQ: GOOGL)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0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— AWS segment (NASDAQ: AMZN)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0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Platforms (NASDAQ: META)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3794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087368"/>
            <a:ext cx="11247120" cy="0"/>
          </a:xfrm>
          <a:prstGeom prst="line">
            <a:avLst/>
          </a:prstGeom>
          <a:noFill/>
          <a:ln w="12700">
            <a:solidFill>
              <a:srgbClr val="E3E0D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4206240"/>
            <a:ext cx="5486400" cy="2194560"/>
          </a:xfrm>
          <a:prstGeom prst="rect">
            <a:avLst/>
          </a:prstGeom>
          <a:solidFill>
            <a:srgbClr val="FCFBF8"/>
          </a:solidFill>
          <a:ln w="12700">
            <a:solidFill>
              <a:srgbClr val="E3E0D3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594360" y="4206240"/>
            <a:ext cx="5212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a simple business-model diagram — who pays whom, for what. Keep it to 4-5 boxes and arrows, like the reference decks' merchant/network diagrams]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0" y="4206240"/>
            <a:ext cx="5486400" cy="329184"/>
          </a:xfrm>
          <a:prstGeom prst="rect">
            <a:avLst/>
          </a:prstGeom>
          <a:solidFill>
            <a:srgbClr val="BC5B33"/>
          </a:solidFill>
          <a:ln/>
        </p:spPr>
      </p:sp>
      <p:sp>
        <p:nvSpPr>
          <p:cNvPr id="21" name="Text 19"/>
          <p:cNvSpPr/>
          <p:nvPr/>
        </p:nvSpPr>
        <p:spPr>
          <a:xfrm>
            <a:off x="6291072" y="4206240"/>
            <a:ext cx="5340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COMPETITIVE ADVANTAGES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4535424"/>
            <a:ext cx="5486400" cy="1865376"/>
          </a:xfrm>
          <a:prstGeom prst="rect">
            <a:avLst/>
          </a:prstGeom>
          <a:solidFill>
            <a:srgbClr val="FFFFFF"/>
          </a:solidFill>
          <a:ln w="12700">
            <a:solidFill>
              <a:srgbClr val="BC5B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27648" y="4590288"/>
            <a:ext cx="5266944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0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advantage 1 — what stops a competitor copying this?]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0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advantage 2]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0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advantage 3]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Microsoft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C5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THESIS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OpenAI Stake Is Real and Growing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378440" y="320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i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Bloom</a:t>
            </a:r>
            <a:pPr algn="r" indent="0" marL="0">
              <a:buNone/>
            </a:pPr>
            <a:r>
              <a:rPr lang="en-US" sz="1800" b="1" i="1" dirty="0">
                <a:solidFill>
                  <a:srgbClr val="BC5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bruh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11247120" cy="0"/>
          </a:xfrm>
          <a:prstGeom prst="line">
            <a:avLst/>
          </a:prstGeom>
          <a:noFill/>
          <a:ln w="25400">
            <a:solidFill>
              <a:srgbClr val="BC5B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11247120" cy="685800"/>
          </a:xfrm>
          <a:prstGeom prst="rect">
            <a:avLst/>
          </a:prstGeom>
          <a:solidFill>
            <a:srgbClr val="F7E9E1"/>
          </a:solidFill>
          <a:ln w="12700">
            <a:solidFill>
              <a:srgbClr val="BC5B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801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~27% as-converted stake in OpenAI Group PBC (~$135bn value) — produced a $7.6bn accounting gain in a single quarter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11247120" cy="3200400"/>
          </a:xfrm>
          <a:prstGeom prst="rect">
            <a:avLst/>
          </a:prstGeom>
          <a:solidFill>
            <a:srgbClr val="FCFBF8"/>
          </a:solidFill>
          <a:ln w="12700">
            <a:solidFill>
              <a:srgbClr val="E3E0D3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594360" y="2148840"/>
            <a:ext cx="10972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the chart or data table that actually proves this thesis — a real trend line, not a summary of one. See this pitch's Research Toolkit for exactly where to pull it from. A real, dense chart is what separates these reference decks from a bullet-point skeleton — don't skip it.]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5486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NOTES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5806440"/>
            <a:ext cx="11247120" cy="0"/>
          </a:xfrm>
          <a:prstGeom prst="line">
            <a:avLst/>
          </a:prstGeom>
          <a:noFill/>
          <a:ln w="12700">
            <a:solidFill>
              <a:srgbClr val="E3E0D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6126480"/>
            <a:ext cx="11247120" cy="0"/>
          </a:xfrm>
          <a:prstGeom prst="line">
            <a:avLst/>
          </a:prstGeom>
          <a:noFill/>
          <a:ln w="12700">
            <a:solidFill>
              <a:srgbClr val="E3E0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Microsoft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C5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THESIS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Capex-vs-Monetization Gap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378440" y="320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i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Bloom</a:t>
            </a:r>
            <a:pPr algn="r" indent="0" marL="0">
              <a:buNone/>
            </a:pPr>
            <a:r>
              <a:rPr lang="en-US" sz="1800" b="1" i="1" dirty="0">
                <a:solidFill>
                  <a:srgbClr val="BC5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bruh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11247120" cy="0"/>
          </a:xfrm>
          <a:prstGeom prst="line">
            <a:avLst/>
          </a:prstGeom>
          <a:noFill/>
          <a:ln w="25400">
            <a:solidFill>
              <a:srgbClr val="BC5B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11247120" cy="685800"/>
          </a:xfrm>
          <a:prstGeom prst="rect">
            <a:avLst/>
          </a:prstGeom>
          <a:solidFill>
            <a:srgbClr val="F7E9E1"/>
          </a:solidFill>
          <a:ln w="12700">
            <a:solidFill>
              <a:srgbClr val="BC5B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801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annual revenue run-rate past $37bn, +123% YoY — but ~$190bn FY2026 capex vs. ~20m Copilot paid seats ($3-5bn/yr) is the real debate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11247120" cy="3200400"/>
          </a:xfrm>
          <a:prstGeom prst="rect">
            <a:avLst/>
          </a:prstGeom>
          <a:solidFill>
            <a:srgbClr val="FCFBF8"/>
          </a:solidFill>
          <a:ln w="12700">
            <a:solidFill>
              <a:srgbClr val="E3E0D3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594360" y="2148840"/>
            <a:ext cx="10972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the chart or data table that actually proves this thesis — a real trend line, not a summary of one. See this pitch's Research Toolkit for exactly where to pull it from. A real, dense chart is what separates these reference decks from a bullet-point skeleton — don't skip it.]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5486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NOTES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5806440"/>
            <a:ext cx="11247120" cy="0"/>
          </a:xfrm>
          <a:prstGeom prst="line">
            <a:avLst/>
          </a:prstGeom>
          <a:noFill/>
          <a:ln w="12700">
            <a:solidFill>
              <a:srgbClr val="E3E0D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6126480"/>
            <a:ext cx="11247120" cy="0"/>
          </a:xfrm>
          <a:prstGeom prst="line">
            <a:avLst/>
          </a:prstGeom>
          <a:noFill/>
          <a:ln w="12700">
            <a:solidFill>
              <a:srgbClr val="E3E0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Microsoft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C5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 IS BEARISH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Here's the Honest Response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378440" y="320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i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Bloom</a:t>
            </a:r>
            <a:pPr algn="r" indent="0" marL="0">
              <a:buNone/>
            </a:pPr>
            <a:r>
              <a:rPr lang="en-US" sz="1800" b="1" i="1" dirty="0">
                <a:solidFill>
                  <a:srgbClr val="BC5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bruh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11247120" cy="0"/>
          </a:xfrm>
          <a:prstGeom prst="line">
            <a:avLst/>
          </a:prstGeom>
          <a:noFill/>
          <a:ln w="25400">
            <a:solidFill>
              <a:srgbClr val="BC5B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5440680" cy="32918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280160"/>
            <a:ext cx="5294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BEAR CASE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09344"/>
            <a:ext cx="5440680" cy="4425696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664208"/>
            <a:ext cx="5221224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3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Copilot monetization doesn't scale meaningfully faster, the market's patience with a multi-year 'trust me' capex story runs out.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280160"/>
            <a:ext cx="5486400" cy="329184"/>
          </a:xfrm>
          <a:prstGeom prst="rect">
            <a:avLst/>
          </a:prstGeom>
          <a:solidFill>
            <a:srgbClr val="3E7D57"/>
          </a:solidFill>
          <a:ln/>
        </p:spPr>
      </p:sp>
      <p:sp>
        <p:nvSpPr>
          <p:cNvPr id="11" name="Text 9"/>
          <p:cNvSpPr/>
          <p:nvPr/>
        </p:nvSpPr>
        <p:spPr>
          <a:xfrm>
            <a:off x="6291072" y="1280160"/>
            <a:ext cx="5340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REBUTTAL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609344"/>
            <a:ext cx="5486400" cy="4425696"/>
          </a:xfrm>
          <a:prstGeom prst="rect">
            <a:avLst/>
          </a:prstGeom>
          <a:solidFill>
            <a:srgbClr val="FFFFFF"/>
          </a:solidFill>
          <a:ln w="12700">
            <a:solidFill>
              <a:srgbClr val="3E7D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27648" y="1664208"/>
            <a:ext cx="5266944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3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response is a specific monetization-timeline sensitivity, not a hand-wave — model exactly how fast seat growth needs to accelerate to justify the current capex run-rate.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Microsoft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C5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DCF &amp; Scenario Analysis — Real Numbers, Not Placeholders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378440" y="320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i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Bloom</a:t>
            </a:r>
            <a:pPr algn="r" indent="0" marL="0">
              <a:buNone/>
            </a:pPr>
            <a:r>
              <a:rPr lang="en-US" sz="1800" b="1" i="1" dirty="0">
                <a:solidFill>
                  <a:srgbClr val="BC5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bruh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11247120" cy="0"/>
          </a:xfrm>
          <a:prstGeom prst="line">
            <a:avLst/>
          </a:prstGeom>
          <a:noFill/>
          <a:ln w="25400">
            <a:solidFill>
              <a:srgbClr val="BC5B33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6858000" cy="201168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  <a:gridCol w="13716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Assumption Delta vs. Base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Target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 x0.55, WACC +100bp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-71.4%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modeled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-50.3%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E7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 x1.35, WACC -100bp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E7D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-17.7%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8"/>
                    </a:solidFill>
                  </a:tcPr>
                </a:tc>
              </a:tr>
              <a:tr h="402336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Target Price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5B33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5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-47.4%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5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5B3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0" descr=""/>
          <p:cNvGraphicFramePr/>
          <p:nvPr/>
        </p:nvGraphicFramePr>
        <p:xfrm>
          <a:off x="7452360" y="1280160"/>
          <a:ext cx="425196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33649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(25/50/25) and the Bear/Bull growth-and-margin multipliers are stated modeling assumptions, not sourced figures — change them freely on the DCF workbook's Scenarios tab.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3703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WACC BUILD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57200" y="3995928"/>
            <a:ext cx="11247120" cy="0"/>
          </a:xfrm>
          <a:prstGeom prst="line">
            <a:avLst/>
          </a:prstGeom>
          <a:noFill/>
          <a:ln w="12700">
            <a:solidFill>
              <a:srgbClr val="E3E0D3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57200" y="41148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Risk-free rate: 4.62%      Beta: 1.13      Equity Risk Premium: 5%      Cost of Equity: 10.27%      After-Tax Cost of Debt: 4.11%      Weight E/D: 98.6% / 1.4%      WACC: 10.2%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4709160"/>
            <a:ext cx="11247120" cy="1371600"/>
          </a:xfrm>
          <a:prstGeom prst="rect">
            <a:avLst/>
          </a:prstGeom>
          <a:solidFill>
            <a:srgbClr val="F7E9E1"/>
          </a:solidFill>
          <a:ln w="12700">
            <a:solidFill>
              <a:srgbClr val="BC5B3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40080" y="4828032"/>
            <a:ext cx="10881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994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table is real, pulled from the actual DCF workbook — not a placeholder.
</a:t>
            </a:r>
            <a:pPr indent="0" marL="0">
              <a:buNone/>
            </a:pPr>
            <a:r>
              <a:rPr lang="en-US" sz="10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the full Microsoft DCF workbook (this pitch's Research Toolkit) for the complete 5-year FCF build behind every number above, on a live Bear/Base/Bull sheet where changing any assumption recomputes the target price. Every hardcoded input there is sourced — see this deck's final Sources slide, or the workbook's own Sources tab.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Microsoft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C5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DCF Summary — Base Case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378440" y="320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i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Bloom</a:t>
            </a:r>
            <a:pPr algn="r" indent="0" marL="0">
              <a:buNone/>
            </a:pPr>
            <a:r>
              <a:rPr lang="en-US" sz="1800" b="1" i="1" dirty="0">
                <a:solidFill>
                  <a:srgbClr val="BC5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bruh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11247120" cy="0"/>
          </a:xfrm>
          <a:prstGeom prst="line">
            <a:avLst/>
          </a:prstGeom>
          <a:noFill/>
          <a:ln w="25400">
            <a:solidFill>
              <a:srgbClr val="BC5B33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6949440" cy="3291840"/>
        </p:xfrm>
        <a:graphic>
          <a:graphicData uri="http://schemas.openxmlformats.org/drawingml/2006/table">
            <a:tbl>
              <a:tblPr/>
              <a:tblGrid>
                <a:gridCol w="2011680"/>
                <a:gridCol w="987552"/>
                <a:gridCol w="987552"/>
                <a:gridCol w="987552"/>
                <a:gridCol w="987552"/>
                <a:gridCol w="98755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FY+1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FY+2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FY+3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FY+4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FY+5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381,570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434,990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491,538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550,523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611,081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177,430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200,095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223,650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250,488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281,097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EBIT margin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NOPAT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140,170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158,075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176,684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197,886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222,067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Plus: D&amp;A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38,157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43,499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49,154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55,052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61,108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Less: Capex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83,945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95,698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108,138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121,115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134,438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Less: Incr. NWC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Unlevered FCF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94,132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105,609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117,416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131,528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148,434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61772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in USD millions unless noted</a:t>
            </a:r>
            <a:endParaRPr lang="en-US" sz="9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280160"/>
          <a:ext cx="4114800" cy="1554480"/>
        </p:xfrm>
        <a:graphic>
          <a:graphicData uri="http://schemas.openxmlformats.org/drawingml/2006/table">
            <a:tbl>
              <a:tblPr/>
              <a:tblGrid>
                <a:gridCol w="2468880"/>
                <a:gridCol w="1645920"/>
              </a:tblGrid>
              <a:tr h="310896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Terminal Value Build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 hMerge="1"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 of PV of FCF (Yr 1-5)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440,849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Terminal 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2,298,927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PV of Terminal 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1,415,660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1,856,508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2971800"/>
          <a:ext cx="4114800" cy="1920240"/>
        </p:xfrm>
        <a:graphic>
          <a:graphicData uri="http://schemas.openxmlformats.org/drawingml/2006/table">
            <a:tbl>
              <a:tblPr/>
              <a:tblGrid>
                <a:gridCol w="2468880"/>
                <a:gridCol w="1645920"/>
              </a:tblGrid>
              <a:tr h="274320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WACC Build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 hMerge="1"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Capitalization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3,627,809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Debt (for weighting)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52,160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 of Equity / Debt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98.6% / 1.4%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of Equity (CAPM)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After-Tax Cost of Debt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WACC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624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457200" y="5074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same Base-case build as the downloadable DCF workbook — the workbook additionally has the full Bear/Base/Bull re-derivation, live formulas, and a Sources tab. Every hardcoded input here is real and sourced; see the final Sources slide.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Microsoft</a:t>
            </a:r>
            <a:endParaRPr lang="en-US" sz="800" dirty="0"/>
          </a:p>
        </p:txBody>
      </p:sp>
      <p:sp>
        <p:nvSpPr>
          <p:cNvPr id="12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C5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CATALYSTS &amp; RISKS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We Win &amp; What Could Break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378440" y="320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i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Bloom</a:t>
            </a:r>
            <a:pPr algn="r" indent="0" marL="0">
              <a:buNone/>
            </a:pPr>
            <a:r>
              <a:rPr lang="en-US" sz="1800" b="1" i="1" dirty="0">
                <a:solidFill>
                  <a:srgbClr val="BC5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bruh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11247120" cy="0"/>
          </a:xfrm>
          <a:prstGeom prst="line">
            <a:avLst/>
          </a:prstGeom>
          <a:noFill/>
          <a:ln w="25400">
            <a:solidFill>
              <a:srgbClr val="BC5B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5486400" cy="329184"/>
          </a:xfrm>
          <a:prstGeom prst="rect">
            <a:avLst/>
          </a:prstGeom>
          <a:solidFill>
            <a:srgbClr val="BC5B33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280160"/>
            <a:ext cx="5340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/ CATALYST TIMELINE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09344"/>
            <a:ext cx="5486400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BC5B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664208"/>
            <a:ext cx="5266944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0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near-term dated event 1 — e.g. next earnings date]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0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event 2]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0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event 3]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1280160"/>
            <a:ext cx="5486400" cy="32918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6291072" y="1280160"/>
            <a:ext cx="5340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609344"/>
            <a:ext cx="5486400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27648" y="1664208"/>
            <a:ext cx="5266944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0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Slower-than-needed Copilot monetization; any regulatory response to AI-safety incidents lands directly on the adoption curve.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05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Mitigant: [INSERT]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3657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CHECKLIST — WHAT A COMPLETE PACK NEEDS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950208"/>
            <a:ext cx="11247120" cy="0"/>
          </a:xfrm>
          <a:prstGeom prst="line">
            <a:avLst/>
          </a:prstGeom>
          <a:noFill/>
          <a:ln w="12700">
            <a:solidFill>
              <a:srgbClr val="E3E0D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069080"/>
            <a:ext cx="11247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1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comparable companies table (margins, growth, EV/EBITDA, P/E — see this pitch's Research Toolkit for real comps)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1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Porter's Five Forces for the industry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1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Precedent M&amp;A transactions in the sector, if relevant to the thesis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1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Management/insider activity summary (recent buying or selling, ownership %)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1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DCF output + Bear/Base/Bull sensitivity — done on the previous slides and in the downloadable workbook; re-run it with your own view before you present it as yours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100" dirty="0">
                <a:solidFill>
                  <a:srgbClr val="2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real number in this deck sourced on the next slide — cite the same sources yourself, don't just cite this deck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Microsoft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C5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&amp; Data Appendix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378440" y="320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i="1" dirty="0">
                <a:solidFill>
                  <a:srgbClr val="2624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Bloom</a:t>
            </a:r>
            <a:pPr algn="r" indent="0" marL="0">
              <a:buNone/>
            </a:pPr>
            <a:r>
              <a:rPr lang="en-US" sz="1800" b="1" i="1" dirty="0">
                <a:solidFill>
                  <a:srgbClr val="BC5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bruh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11247120" cy="0"/>
          </a:xfrm>
          <a:prstGeom prst="line">
            <a:avLst/>
          </a:prstGeom>
          <a:noFill/>
          <a:ln w="25400">
            <a:solidFill>
              <a:srgbClr val="BC5B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7043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hardcoded number used to build the valuation on the DCF slides — where it came from, compiled August 2026. A dated snapshot, not a live feed: verify against a live quote before you present this.</a:t>
            </a:r>
            <a:endParaRPr lang="en-US" sz="10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11247120" cy="4480560"/>
        </p:xfrm>
        <a:graphic>
          <a:graphicData uri="http://schemas.openxmlformats.org/drawingml/2006/table">
            <a:tbl>
              <a:tblPr/>
              <a:tblGrid>
                <a:gridCol w="2560320"/>
                <a:gridCol w="8686800"/>
              </a:tblGrid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/ Note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41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price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F6B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$488.265 (5 Aug 2026)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Shares outstanding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F6B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7.43bn shares (7.453bn for the quarter ended 30 Jun 2026, stockanalysis.com)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debt / net cash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F6B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debt ~$52.16bn (cash $76.65bn, debt $128.81bn) — stockanalysis.com; reflects the AI capex-driven balance-sheet build (guided $190bn 2026 capex)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F6B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1.13 (stockanalysis.com)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Risk-free rate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F6B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10-year Treasury yield, 4.62%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FY0 revenue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F6B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FY2026 (year to 30 Jun 2026) revenue $331.8bn, +18% YoY (Microsoft FY26 Q4 results)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FY0 operating margin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F6B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FY2026 operating margin 46.8%, +1.2pp YoY (operating income $155.2bn)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growth path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F6B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Anchored to FY26's +18% actual, tapering modestly — AI annual revenue run-rate already &gt;$37bn and growing 123% YoY is the key swing factor, offset against the risk the pitch itself flags: whether Copilot monetization scales fast enough to justify the $190bn capex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Bloombruh Research Toolkit — Microsoft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F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2026-08-06T04:30:31Z</dcterms:created>
  <dcterms:modified xsi:type="dcterms:W3CDTF">2026-08-06T04:30:31Z</dcterms:modified>
</cp:coreProperties>
</file>