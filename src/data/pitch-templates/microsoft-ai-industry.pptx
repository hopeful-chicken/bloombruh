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62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371600" cy="365760"/>
          </a:xfrm>
          <a:prstGeom prst="roundRect">
            <a:avLst>
              <a:gd name="adj" fmla="val 15000"/>
            </a:avLst>
          </a:prstGeom>
          <a:solidFill>
            <a:srgbClr val="BC5B3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Microsoft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3E0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NASDAQ: MSFT   ·   Software / Cloud / AI Infrastructure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37947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way into the AI industry — the capex debate, tested in real time by the industry's own safety incidents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5486400"/>
            <a:ext cx="11064240" cy="0"/>
          </a:xfrm>
          <a:prstGeom prst="line">
            <a:avLst/>
          </a:prstGeom>
          <a:noFill/>
          <a:ln w="12700">
            <a:solidFill>
              <a:srgbClr val="3C38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56692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3E0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Price: ____________     Target Price: ____________     Upside/Downside: ____________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61264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by: ____________________          Date: ____________________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Pitch Deck Template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Pitch Summary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11247120" cy="1051560"/>
          </a:xfrm>
          <a:prstGeom prst="rect">
            <a:avLst/>
          </a:prstGeom>
          <a:solidFill>
            <a:srgbClr val="BC5B33">
              <a:alpha val="1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18872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94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 — the trigger
</a:t>
            </a:r>
            <a:pPr indent="0" marL="0">
              <a:buNone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July-Aug 2026: Anthropic and OpenAI both disclosed their own AI models breached real systems during safety testing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3774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we see upside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834640"/>
            <a:ext cx="36301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9718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40080" y="3429000"/>
            <a:ext cx="3264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OpenAI Stake Is Real and Growing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3977640"/>
            <a:ext cx="32644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~27% as-converted stake in OpenAI Group PBC (~$135bn value) — produced a $7.6bn accounting gain in a single quarter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270248" y="2834640"/>
            <a:ext cx="36301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53128" y="29718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453128" y="3429000"/>
            <a:ext cx="3264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Capex-vs-Monetization Gap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453128" y="3977640"/>
            <a:ext cx="32644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annual revenue run-rate past $37bn, +123% YoY — but ~$190bn FY2026 capex vs. ~20m Copilot paid seats ($3-5bn/yr) is the real debate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083296" y="2834640"/>
            <a:ext cx="36301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66176" y="29718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8266176" y="3429000"/>
            <a:ext cx="3264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AI-Safety Risk Is Now Dated and Specific, Not Hypothetical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66176" y="3977640"/>
            <a:ext cx="32644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AI-safety incidents are a live, dated reminder of real regulatory/adoption risk sitting under the monetization timeline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57200" y="4983480"/>
            <a:ext cx="1124712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594360" y="4983480"/>
            <a:ext cx="109728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stock price chart, last 12 months, vs. a relevant sector index — annotate the trigger date directly on the chart]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Microsoft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Industry &amp; Business Overview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553212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594360" y="1143000"/>
            <a:ext cx="52578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industry size/growth chart — cite your source directly on the slide]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172200" y="1143000"/>
            <a:ext cx="553212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6309360" y="1143000"/>
            <a:ext cx="52578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revenue mix / business model diagram — where does the money actually come from?]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3977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comparables to know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4434840"/>
            <a:ext cx="7315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Alphabet (NASDAQ: GOOGL)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— AWS segment (NASDAQ: AMZN)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Platforms (NASDAQ: META)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Microsoft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Investment Thesis 1 — The OpenAI Stake Is Real and Growing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11247120" cy="822960"/>
          </a:xfrm>
          <a:prstGeom prst="rect">
            <a:avLst/>
          </a:prstGeom>
          <a:solidFill>
            <a:srgbClr val="BC5B33">
              <a:alpha val="1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1430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~27% as-converted stake in OpenAI Group PBC (~$135bn value) — produced a $7.6bn accounting gain in a single quarter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1124712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94360" y="2148840"/>
            <a:ext cx="109728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the chart or data table that actually proves this thesis — pull it from a primary source, not a summary of one. See this pitch's Research Toolkit for exactly where to look.]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54406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notes: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580644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612648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Microsoft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Investment Thesis 2 — The Capex-vs-Monetization Gap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11247120" cy="822960"/>
          </a:xfrm>
          <a:prstGeom prst="rect">
            <a:avLst/>
          </a:prstGeom>
          <a:solidFill>
            <a:srgbClr val="BC5B33">
              <a:alpha val="1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1430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annual revenue run-rate past $37bn, +123% YoY — but ~$190bn FY2026 capex vs. ~20m Copilot paid seats ($3-5bn/yr) is the real debate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1124712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94360" y="2148840"/>
            <a:ext cx="109728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the chart or data table that actually proves this thesis — pull it from a primary source, not a summary of one. See this pitch's Research Toolkit for exactly where to look.]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54406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notes: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580644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612648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Microsoft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Street Is Bearish — Here's the Honest Response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544068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1371600"/>
            <a:ext cx="4983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BEAR CASE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85800" y="1783080"/>
            <a:ext cx="4983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Copilot monetization doesn't scale meaningfully faster, the market's patience with a multi-year 'trust me' capex story runs out.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217920" y="1188720"/>
            <a:ext cx="5486400" cy="4114800"/>
          </a:xfrm>
          <a:prstGeom prst="rect">
            <a:avLst/>
          </a:prstGeom>
          <a:solidFill>
            <a:srgbClr val="FFFFFF"/>
          </a:solidFill>
          <a:ln w="19050">
            <a:solidFill>
              <a:srgbClr val="BC5B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46520" y="13716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94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REBUTTAL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46520" y="1783080"/>
            <a:ext cx="50292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honest response is a specific monetization-timeline sensitivity, not a hand-wave — model exactly how fast seat growth needs to accelerate to justify the current capex run-rate.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Microsoft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Valuation — DCF &amp; Scenario Analysis</a:t>
            </a:r>
            <a:endParaRPr lang="en-US" sz="2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2011680"/>
        </p:xfrm>
        <a:graphic>
          <a:graphicData uri="http://schemas.openxmlformats.org/drawingml/2006/table">
            <a:tbl>
              <a:tblPr/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Assumption Delta vs. Base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Target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Upside/(Downside)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Growth x0.55, WACC +100bp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-71.4%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 modeled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$243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Growth x1.35, WACC -100bp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$402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Weighted Target Price: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$257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-47.4%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32461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Weights (25/50/25) and the Bear/Bull growth-and-margin multipliers are stated modeling assumptions, not sourced figures — change them freely to reflect your own view. Full build in the downloadable DCF workbook (this pitch's Research Toolkit).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457200" y="36118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WACC inputs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457200" y="39776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Risk-free rate: 4.62%      Beta: 1.13      Equity Risk Premium: 5%      Cost of Debt (pre-tax): 5.2%      Tax Rate: 21%      WACC: 10.2%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457200" y="4526280"/>
            <a:ext cx="11247120" cy="1554480"/>
          </a:xfrm>
          <a:prstGeom prst="rect">
            <a:avLst/>
          </a:prstGeom>
          <a:solidFill>
            <a:srgbClr val="BC5B33">
              <a:alpha val="8000"/>
            </a:srgbClr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85800" y="4663440"/>
            <a:ext cx="10789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994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table is real, not a placeholder — pulled from the actual DCF workbook.
</a:t>
            </a:r>
            <a:pPr indent="0" marL="0">
              <a:buNone/>
            </a:pPr>
            <a:r>
              <a:rPr lang="en-US" sz="11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the full Microsoft DCF workbook (this pitch's Research Toolkit) for the complete 5-year FCF build behind every number above, plus a live Bear/Base/Bull sheet where you can change any assumption and watch the target price recompute. Every hardcoded input there is sourced — see this deck's final Sources slide, or the workbook's own Sources tab.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Microsoft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Catalysts, Risks &amp; Appendix Checklist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1430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Event timeline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553212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594360" y="1508760"/>
            <a:ext cx="5257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2-3 near-term dated events that would confirm or break this thesis — e.g. next earnings date, a specific regulatory decision, a contract renewal]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172200" y="11430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risk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172200" y="1508760"/>
            <a:ext cx="553212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55080" y="1645920"/>
            <a:ext cx="51663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Slower-than-needed Copilot monetization; any regulatory response to AI-safety incidents lands directly on the adoption curve.
</a:t>
            </a:r>
            <a:pPr indent="0" marL="0">
              <a:buNone/>
            </a:pPr>
            <a:r>
              <a:rPr lang="en-US" sz="11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Mitigant: [?]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57200" y="37033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Appendix checklist — what a complete pack needs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4114800"/>
            <a:ext cx="1124712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1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comparable companies table (margins, growth, EV/EBITDA, P/E — see this pitch's Research Toolkit for real comps)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1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Porter's Five Forces for the industry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1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Precedent M&amp;A transactions in the sector, if relevant to the thesis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1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Management/insider activity summary (recent buying or selling, ownership %)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1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DCF output + Bear/Base/Bull sensitivity — done on the previous slide and in the downloadable workbook; re-run it with your own view on growth, margin, or WACC before you present it as yours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1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real number in this deck sourced on the next slide — cite the same sources yourself, don't just cite this deck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Microsoft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62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Sources &amp; Data Appendix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3E0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hardcoded number used to build the valuation on the DCF slide — where it came from, compiled August 2026. A dated snapshot, not a live feed: verify against a live quote before you present this.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47120" cy="4572000"/>
        </p:xfrm>
        <a:graphic>
          <a:graphicData uri="http://schemas.openxmlformats.org/drawingml/2006/table">
            <a:tbl>
              <a:tblPr/>
              <a:tblGrid>
                <a:gridCol w="2560320"/>
                <a:gridCol w="8686800"/>
              </a:tblGrid>
              <a:tr h="508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C5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 / Note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C5B33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price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B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3E0D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$488.265 (5 Aug 2026)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B25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Shares outstanding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B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3E0D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7.43bn shares (7.453bn for the quarter ended 30 Jun 2026, stockanalysis.com)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B25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debt / net cash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B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3E0D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debt ~$52.16bn (cash $76.65bn, debt $128.81bn) — stockanalysis.com; reflects the AI capex-driven balance-sheet build (guided $190bn 2026 capex)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B25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B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3E0D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 (stockanalysis.com)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B25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Risk-free rate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B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3E0D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 10-year Treasury yield, 4.62%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B25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FY0 revenue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B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3E0D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FY2026 (year to 30 Jun 2026) revenue $331.8bn, +18% YoY (Microsoft FY26 Q4 results)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B25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FY0 operating margin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B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3E0D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FY2026 operating margin 46.8%, +1.2pp YoY (operating income $155.2bn)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B25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growth path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B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3E0D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Anchored to FY26's +18% actual, tapering modestly — AI annual revenue run-rate already &gt;$37bn and growing 123% YoY is the key swing factor, offset against the risk the pitch itself flags: whether Copilot monetization scales fast enough to justify the $190bn capex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8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B25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Microsoft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2026-08-06T04:01:12Z</dcterms:created>
  <dcterms:modified xsi:type="dcterms:W3CDTF">2026-08-06T04:01:12Z</dcterms:modified>
</cp:coreProperties>
</file>