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(DKK)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15720.32</c:v>
                </c:pt>
                <c:pt idx="1">
                  <c:v>36233.38</c:v>
                </c:pt>
                <c:pt idx="2">
                  <c:v>71290.52</c:v>
                </c:pt>
                <c:pt idx="3">
                  <c:v>18505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A.P. Moller-Maersk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[AVOID / SHORT-leaning A.P. Moller–Maersk (CPH: MAERSK-B)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 (pence vs £, ADS ratios, reporting-vs-quote currency) — a unit slip makes any target look wildly wrong. (3) Compare your target with the 52-week range;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[e.g. 'A safer route home is an earnings negative: Suez returns 6-8% of global capacity to a rate market']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e.g. the market may read the permanent Suez return as an operational positive (lower costs, reliable schedules)]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— e.g. the Red Sea diversion was the earnings story: rates 25-40% elevated, and the return releases 6-8% of global capacity into that premium]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[CLAIM, e.g. 'The diversion premium was the profit — and it ends when the ships come home']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[CLAIM, e.g. 'Contract coverage lags — so the earnings reset arrives on a schedule you can date']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[CLAIM, e.g. 'The integrator transformation deserves some multiple — but not immunity from the cycle']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relevant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'The diversion premium was the profit — and it 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'Contract coverage lags — so the earnings reset]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'The integrator transformation deserves some mu]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(for a cautious/avoid stance, the key risk is the reverse) — e.g. a new disruption re-tightens capacity and rates spike again, or the Suez return slips]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Shipping &amp; Logistics — A Freight-Rate Cycle Business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1 — e.g. global capacity additions (orderbook) vs demand, with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 — e.g. Suez/Panama routing normalisation]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 — e.g. logistics/integrator mix shift]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Hapag-Lloyd (ETR: HLAG)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COSCO Shipping (HKEX: 1919)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 (NYSE: ZIM)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[WARNING: container multiples swing wildly across the cycle — comp each name at 2-3 cycle points, not just today]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diagram — global trade volumes → vessel capacity &amp; routing → freight rates → Ocean earnings + Logistics integrator revenue]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e.g. scale + network density]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 — e.g. end-to-end integrator contracts]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filings;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[CLAIM, e.g. 'The diversion premium was the profit — and it ends when the ships come home']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Freightos Baltic Index and Drewry World Container Index levels vs pre-diversion, with the 25-40% Asia-Europe premium marked. Chart: weekly freight index with diversion start/end annotated.]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'Contract coverage lags — so the earnings reset arrives on a schedule you can date']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Maersk's contract-vs-spot mix and renewal timing from quarterly reports; when elevated contracts roll off, earnings follow spot. Chart: EBIT by quarter with contract-lag annotation.]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'The integrator transformation deserves some multiple — but not immunity from the cycle']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Logistics &amp; Services revenue/margin trend vs Ocean segment; how much of group value is logistics now. Chart: segment mix over time.]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the strongest version of the OTHER side — here, the bull case: rates stay elevated on new disruptions, logistics keeps compounding, and the cycle has structurally tightened since 2020.]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numbered answers — e.g. 1) the Suez return is company-announced and dated; 2) 6-8% capacity release is arithmetic, not opinion; 3) your terminal value uses a normalized mid-cycle rate, not today's elevated one.]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Bear / Base / Bull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10-yr Danish or German government yield | beta from stockanalysis.com | ERP 5% | model in USD (reporting currency) with the DKK quote noted — divisor 1. CRITICAL: set terminal value to a NORMALIZED mid-cycle freight margin, not the current elevated one, or your DCF just recreates today's price. [INSERT your values]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quarterly results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company's stated full-Suez-return completion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Freightos/Drewry weekly print you will check before presenting]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1 — new disruption re-tightens rates] → [mitigant — that is the thesis risk; monitor the two weekly indices]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2 — slower-than-expected return] → [mitigant — company timeline is public; slippage delays but preserves the premium]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3] → [mitigant 3]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£, ADS ratios, currencies)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Hapag-Lloyd (ETR: HLAG)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COSCO Shipping (HKEX: 1919)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ZIM (NYSE: ZIM)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 — DSV/Kuehne for the logistics side]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A.P. Moller–Maersk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 — modeled in USD (Maersk's own reporting currency); implied per-share value converted to DKK for comparison to the Copenhagen-listed quote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the exchange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target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Hapag-Lloyd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scale liner peer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state-backed liner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spot exposure — the cycle canary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warning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 each name at 2-3 points in the freight cycle, not just today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your target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ownership: [INSERT — the Moller family holding structure]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dealings: [INSERT]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capital allocation through the 2020-22 supercycle: did they stay disciplined?]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remuneration report highlights]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 — modeled in USD (Maersk's own reporting currency); implied per-share value converted to DKK for comparison to the Copenhagen-listed quote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in the company's reporting currency (millions) unless noted.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