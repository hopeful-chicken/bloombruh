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Implied Price (DKK)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6B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7D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241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Bear</c:v>
                  </c:pt>
                  <c:pt idx="1">
                    <c:v>Base</c:v>
                  </c:pt>
                  <c:pt idx="2">
                    <c:v>Bull</c:v>
                  </c:pt>
                  <c:pt idx="3">
                    <c:v>Current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15720.32</c:v>
                </c:pt>
                <c:pt idx="1">
                  <c:v>36233.38</c:v>
                </c:pt>
                <c:pt idx="2">
                  <c:v>71290.52</c:v>
                </c:pt>
                <c:pt idx="3">
                  <c:v>18505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0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indent="0" marL="0">
              <a:buNone/>
            </a:pPr>
            <a:r>
              <a:rPr lang="en-US" sz="26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A.P. Moller-Maersk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731520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7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</a:t>
            </a:r>
            <a:pPr indent="0" marL="0">
              <a:buNone/>
            </a:pPr>
            <a:r>
              <a:rPr lang="en-US" sz="24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A.P. Moller-Maersk (CPH: MAERSK-B)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Price: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DKK18,505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Price: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DKK39,869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(+115.5%)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price is this pitch's own real DCF workbook (probability-weighted Bear/Base/Bull) — re-run it with your own assumptions before you present it as your view, not Bloombruh's.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257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modeled on real Varsity Pitch Competition / OAF-style decks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____________________          Date: ____________________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pitch to present as your own — fill in your name above.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rare case where the company's own good news is bad news for the stock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SUMMARY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548640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5486400" cy="77724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the trigger
</a:t>
            </a:r>
            <a:pPr indent="0" marL="0">
              <a:buNone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announcement of a permanent return to the Suez Canal after 14 months of Red Sea diversion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502920" cy="292608"/>
          </a:xfrm>
          <a:prstGeom prst="chevron">
            <a:avLst/>
          </a:prstGeom>
          <a:solidFill>
            <a:srgbClr val="BC5B3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352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Freight-Rate Premium Was Real and Measurable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2278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Sea diversion inflated freight rates ~25-40% on key lanes for over a year — real, measurable, and now reversing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04488"/>
            <a:ext cx="502920" cy="292608"/>
          </a:xfrm>
          <a:prstGeom prst="chevron">
            <a:avLst/>
          </a:prstGeom>
          <a:solidFill>
            <a:srgbClr val="BC5B3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044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336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Return Is the Actual Swing Factor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capacity is expected to release 6-8% of global container capacity back into circulation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202936"/>
            <a:ext cx="502920" cy="292608"/>
          </a:xfrm>
          <a:prstGeom prst="chevron">
            <a:avLst/>
          </a:prstGeom>
          <a:solidFill>
            <a:srgbClr val="BC5B3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2029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532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Good News, Earnings Bad News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58247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(incl. HSBC) have flagged the resulting rate collapse could push Maersk and peers into losses — a genuine, quantifiable near-term risk to 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280160"/>
            <a:ext cx="5486400" cy="210312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355080" y="12801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stock price chart, last 12 months, vs. a relevant sector index — annotate the trigger date directly on the chart, like the reference decks do]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520440"/>
            <a:ext cx="2651760" cy="329184"/>
          </a:xfrm>
          <a:prstGeom prst="rect">
            <a:avLst/>
          </a:prstGeom>
          <a:solidFill>
            <a:srgbClr val="3E7D57"/>
          </a:solidFill>
          <a:ln/>
        </p:spPr>
      </p:sp>
      <p:sp>
        <p:nvSpPr>
          <p:cNvPr id="25" name="Text 23"/>
          <p:cNvSpPr/>
          <p:nvPr/>
        </p:nvSpPr>
        <p:spPr>
          <a:xfrm>
            <a:off x="6291072" y="352044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SEE UPSIDE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849624"/>
            <a:ext cx="2651760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D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3904488"/>
            <a:ext cx="243230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Freight-Rate Premium Was Real and Measurable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Return Is the Actual Swing Factor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Good News, Earnings Bad News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52560" y="3520440"/>
            <a:ext cx="265176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9125712" y="352044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3849624"/>
            <a:ext cx="2651760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62288" y="3904488"/>
            <a:ext cx="243230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faster/more complete normalization than the market expects compresses rates further and faster.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A.P. Moller-Maersk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BUSINESS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Shipping &amp; Logistics — Where A.P. Moller-Maersk Sits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56616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INDUSTRY DRIVERS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356616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33467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growth driver 1 — cite your source]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growth driver 2]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growth driver 3]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1280160"/>
            <a:ext cx="3794760" cy="237744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297680" y="12801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industry-size or market-growth chart, with a CAGR annotation — see the reference decks' style]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2440" y="1280160"/>
            <a:ext cx="361188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13" name="Text 11"/>
          <p:cNvSpPr/>
          <p:nvPr/>
        </p:nvSpPr>
        <p:spPr>
          <a:xfrm>
            <a:off x="8165592" y="1280160"/>
            <a:ext cx="3465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COMPANIES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1609344"/>
            <a:ext cx="361188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664208"/>
            <a:ext cx="339242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Hapag-Lloyd (ETR: HLAG)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COSCO Shipping Holdings (HKG: 1919)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 Integrated Shipping (NYSE: ZIM)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206240"/>
            <a:ext cx="5486400" cy="219456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4360" y="42062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a simple business-model diagram — who pays whom, for what. Keep it to 4-5 boxes and arrows, like the reference decks' merchant/network diagrams]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4206240"/>
            <a:ext cx="548640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21" name="Text 19"/>
          <p:cNvSpPr/>
          <p:nvPr/>
        </p:nvSpPr>
        <p:spPr>
          <a:xfrm>
            <a:off x="6291072" y="420624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COMPETITIVE ADVANTAGES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535424"/>
            <a:ext cx="548640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4590288"/>
            <a:ext cx="526694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advantage 1 — what stops a competitor copying this?]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advantage 2]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advantage 3]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A.P. Moller-Maersk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Freight-Rate Premium Was Real and Measurable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Sea diversion inflated freight rates ~25-40% on key lanes for over a year — real, measurable, and now reversing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320040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a real trend line, not a summary of one. See this pitch's Research Toolkit for exactly where to pull it from. A real, dense chart is what separates these reference decks from a bullet-point skeleton — don't skip it.]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A.P. Moller-Maersk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Return Is the Actual Swing Factor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capacity is expected to release 6-8% of global container capacity back into circulation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320040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a real trend line, not a summary of one. See this pitch's Research Toolkit for exactly where to pull it from. A real, dense chart is what separates these reference decks from a bullet-point skeleton — don't skip it.]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A.P. Moller-Maersk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IS BEARISH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the Honest Response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4068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5294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5440680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52212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really a short setup dressed as a long — falling rates are bad for earnings, full stop.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486400" cy="329184"/>
          </a:xfrm>
          <a:prstGeom prst="rect">
            <a:avLst/>
          </a:prstGeom>
          <a:solidFill>
            <a:srgbClr val="3E7D57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REBUTTAL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9344"/>
            <a:ext cx="5486400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D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664208"/>
            <a:ext cx="526694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honest tension in this name — the pitch only works if you have a specific, evidenced view on the SPEED of the capacity return, not just its direction. State that view explicitly rather than picking a side by default.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A.P. Moller-Maersk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&amp; Scenario Analysis — Real Numbers, Not Placeholders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8580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Assumption Delta vs. 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x0.55, WACC +100bp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DKK15,720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modeled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DKK36,233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7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+95.8%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7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x1.35, WACC -100bp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DKK71,291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7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+285.3%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</a:tr>
              <a:tr h="40233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Target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DKK39,869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+115.5%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7452360" y="1280160"/>
          <a:ext cx="42519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3649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(25/50/25) and the Bear/Bull growth-and-margin multipliers are stated modeling assumptions, not sourced figures — change them freely on the DCF workbook's Scenarios tab.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BUILD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3995928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114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rate: 3.06%      Beta: 0.67      Equity Risk Premium: 5%      Cost of Equity: 6.41%      After-Tax Cost of Debt: 3.51%      Weight E/D: 99.3% / 0.7%      WACC: 6.4%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4828032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real, pulled from the actual DCF workbook — not a placeholder.
</a:t>
            </a:r>
            <a:pPr indent="0" marL="0">
              <a:buNone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full A.P. Moller-Maersk DCF workbook (this pitch's Research Toolkit) for the complete 5-year FCF build behind every number above, on a live Bear/Base/Bull sheet where changing any assumption recomputes the target price. Every hardcoded input there is sourced — see this deck's final Sources slide, or the workbook's own Sources tab.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A.P. Moller-Maersk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Summary — Base Case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94944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987552"/>
                <a:gridCol w="987552"/>
                <a:gridCol w="987552"/>
                <a:gridCol w="987552"/>
                <a:gridCol w="9875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55,080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56,732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58,434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59,603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60,795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EBIT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NOPAT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Plus: D&amp;A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Capex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Incr. NWC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Unlevered FCF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17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USD millions unless noted — modeled in USD (Maersk's own reporting currency); implied per-share value converted to DKK for comparison to the Copenhagen-listed quote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80160"/>
          <a:ext cx="4114800" cy="155448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31089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Value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PV of FCF (Yr 1-5)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13,448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85,619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of Terminal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62,817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76,265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971800"/>
          <a:ext cx="4114800" cy="192024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2743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Capitalization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38,807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(for weighting)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of Equity /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99.3% / 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Equity (CAPM)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After-Tax Cost of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Base-case build as the downloadable DCF workbook — the workbook additionally has the full Bear/Base/Bull re-derivation, live formulas, and a Sources tab. Every hardcoded input here is real and sourced; see the final Sources slide.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A.P. Moller-Maersk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CATALYSTS &amp;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We Win &amp; What Could Break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0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/ CATALYST TIMELINE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54864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526694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near-term dated event 1 — e.g. next earnings date]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event 2]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event 3]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48640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9344"/>
            <a:ext cx="54864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664208"/>
            <a:ext cx="526694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faster/more complete normalization than the market expects compresses rates further and faster.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Mitigant: [INSERT]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CHECKLIST — WHAT A COMPLETE PACK NEEDS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50208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69080"/>
            <a:ext cx="11247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comparable companies table (margins, growth, EV/EBITDA, P/E — see this pitch's Research Toolkit for real comps)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 for the industry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M&amp;A transactions in the sector, if relevant to the thesis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Management/insider activity summary (recent buying or selling, ownership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output + Bear/Base/Bull sensitivity — done on the previous slides and in the downloadable workbook; re-run it with your own view before you present it as yours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number in this deck sourced on the next slide — cite the same sources yourself, don't just cite this deck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A.P. Moller-Maersk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Data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hardcoded number used to build the valuation on the DCF slides — where it came from, compiled August 2026. A dated snapshot, not a live feed: verify against a live quote before you present this.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4480560"/>
        </p:xfrm>
        <a:graphic>
          <a:graphicData uri="http://schemas.openxmlformats.org/drawingml/2006/table">
            <a:tbl>
              <a:tblPr/>
              <a:tblGrid>
                <a:gridCol w="2560320"/>
                <a:gridCol w="8686800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DKK 18,505 (11 Jun 2026, most recent found) — converted at ~6.9 DKK/USD for modeling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outstanding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14.47m B-shares (stockanalysis.com) — Maersk's real share count is unusually small because each share carries a high DKK 1,000 nominal value, hence the very high per-share DKK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/ net cash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~$0.28bn (cash $18.43bn vs. debt $18.71bn) — stockanalysis.com; Maersk has deleveraged sharply post-pandemic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 — cross-checked across two sources (stockanalysis.com cited 0.52, a second aggregator cited a 0.67/0.83 range); 0.67 used as the better-corroborated middle figure rather than the single lowest 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Risk-free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Denmark 10-year government bond yield, 3.06% (31 Jul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 revenue $54.0bn (Maersk full-year 2025 results, Feb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operating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 EBIT margin ~6.5% ($3.5bn EBIT / $54.0bn revenue); EBITDA margin was 17.6% ($9.5bn)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growth 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Modest growth assumption — the Suez-return capacity release (6-8% of global container capacity) is a near-term rate headwind, not a volume tailwind, so growth is modeled off volume/modest rate recovery, not the freight-rate supercycle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A.P. Moller-Maersk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2026-08-06T04:30:31Z</dcterms:created>
  <dcterms:modified xsi:type="dcterms:W3CDTF">2026-08-06T04:30:31Z</dcterms:modified>
</cp:coreProperties>
</file>