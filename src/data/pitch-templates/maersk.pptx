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BC5B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A.P. Moller-Maersk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CPH: MAERSK-B   ·   Container Shipping &amp; Logistics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rare case where the company's own good news is bad news for the stock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5486400"/>
            <a:ext cx="11064240" cy="0"/>
          </a:xfrm>
          <a:prstGeom prst="line">
            <a:avLst/>
          </a:prstGeom>
          <a:noFill/>
          <a:ln w="12700">
            <a:solidFill>
              <a:srgbClr val="3C38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____________     Target Price: ____________     Upside/Downside: ____________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Pitch Deck Template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 Summary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1247120" cy="10515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8872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— the trigger
</a:t>
            </a:r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announcement of a permanent return to the Suez Canal after 14 months of Red Sea diversion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see upside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Freight-Rate Premium Was Real and Measurable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 Sea diversion inflated freight rates ~25-40% on key lanes for over a year — real, measurable, and now reversing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70248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53128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453128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Return Is the Actual Swing Factor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53128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Returning capacity is expected to release 6-8% of global container capacity back into circulation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3296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6176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66176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Good News, Earnings Bad News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66176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Analysts (incl. HSBC) have flagged the resulting rate collapse could push Maersk and peers into losses — a genuine, quantifiable near-term risk to model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4983480"/>
            <a:ext cx="112471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983480"/>
            <a:ext cx="10972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stock price chart, last 12 months, vs. a relevant sector index — annotate the trigger date directly on the chart]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Industry &amp; Business Overview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94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industry size/growth chart — cite your source directly on the slide]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172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309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revenue mix / business model diagram — where does the money actually come from?]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977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comparables to know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443484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Hapag-Lloyd (ETR: HLAG)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COSCO Shipping Holdings (HKG: 1919)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 Integrated Shipping (NYSE: ZIM)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1 — The Freight-Rate Premium Was Real and Measurable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 Sea diversion inflated freight rates ~25-40% on key lanes for over a year — real, measurable, and now reversing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2 — Capacity Return Is the Actual Swing Factor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Returning capacity is expected to release 6-8% of global container capacity back into circulation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Street Is Bearish — Here's the Honest Response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406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7160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really a short setup dressed as a long — falling rates are bad for earnings, full stop.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188720"/>
            <a:ext cx="548640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4652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46520" y="178308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honest tension in this name — the pitch only works if you have a specific, evidenced view on the SPEED of the capacity return, not just its direction. State that view explicitly rather than picking a side by default.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Valuation — DCF &amp; Scenario Analysis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201168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Price: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429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WACC inputs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rate: [?]      Beta: [?]      Equity Risk Premium: [?]      Cost of Debt (pre-tax): [?]      Tax Rate: [?]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4526280"/>
            <a:ext cx="11247120" cy="1554480"/>
          </a:xfrm>
          <a:prstGeom prst="rect">
            <a:avLst/>
          </a:prstGeom>
          <a:solidFill>
            <a:srgbClr val="BC5B33">
              <a:alpha val="8000"/>
            </a:srgbClr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466344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this in Excel — don't guess at a DCF freehand.
</a:t>
            </a:r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DCF and Trading Comps templates at bloombruh.com/templates — pick "A.P. Moller-Maersk" or the closest available sector match. Every cell is a live formula prefilled with real data; you only need to adjust the assumptions above.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Catalysts, Risks &amp; Appendix Checklist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timeline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5257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2-3 near-term dated events that would confirm or break this thesis — e.g. next earnings date, a specific regulatory decision, a contract renewal]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72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risk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45920"/>
            <a:ext cx="5166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faster/more complete normalization than the market expects compresses rates further and faster.
</a:t>
            </a:r>
            <a:pPr indent="0" marL="0">
              <a:buNone/>
            </a:pPr>
            <a:r>
              <a:rPr lang="en-US" sz="11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Mitigant: [?]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3703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checklist — what a complete pack needs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comparable companies table (margins, growth, EV/EBITDA, P/E — see this pitch's Research Toolkit for real comps)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 for the industry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 M&amp;A transactions in the sector, if relevant to the thesis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Management/insider activity summary (recent buying or selling, ownership %)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DCF output + sensitivity table (price target vs. WACC and terminal growth/exit multiple)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2026-08-05T15:29:37Z</dcterms:created>
  <dcterms:modified xsi:type="dcterms:W3CDTF">2026-08-05T15:29:37Z</dcterms:modified>
</cp:coreProperties>
</file>