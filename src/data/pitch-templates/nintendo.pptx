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BC5B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Nintendo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TYO: 7974   ·   Gaming Hardware &amp; Software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fundamentals, a 53% drawdown — a hype-vs-fundamentals gap running in reverse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486400"/>
            <a:ext cx="11064240" cy="0"/>
          </a:xfrm>
          <a:prstGeom prst="line">
            <a:avLst/>
          </a:prstGeom>
          <a:noFill/>
          <a:ln w="12700">
            <a:solidFill>
              <a:srgbClr val="3C38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____________     Target Price: ____________     Upside/Downside: ____________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Pitch Deck Template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10515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887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Nintendo Direct disappointment (-10% in one session) despite FY26 net sales +98.6% YoY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see upside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Switch 2 Hardware Cycle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net sales nearly doubled to ¥2.313tn — Switch 2 is the fastest-selling console in company history (19.86m units, 10 months)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70248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3128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53128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Pokemon Franchise at Peak Strength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Pokemon Company: $3.33bn revenue, $752m net profit (FY to Feb 2026) — one of the franchise's strongest years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3296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66176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Specific, Addressable Catalysts Behind the Drawdown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53% drawdown is driven by two dated, specific catalysts (a memory-chip cost shock, a thin software showcase) — not a broken business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98348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9834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&amp; Business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 size/growth chart — cite your source directly on the slide]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72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revenue mix / business model diagram — where does the money actually come from?]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comparables to know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Sony Group — Games &amp; Network Services segment (TYO: 6758)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Take-Two Interactive (NASDAQ: TTWO)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Arts (NASDAQ: EA)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1 — Record Switch 2 Hardware Cycle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net sales nearly doubled to ¥2.313tn — Switch 2 is the fastest-selling console in company history (19.86m units, 10 months)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2 — Pokemon Franchise at Peak Strength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Pokemon Company: $3.33bn revenue, $752m net profit (FY to Feb 2026) — one of the franchise's strongest years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Street Is Bearish — Here's the Honest Response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is pricing in a weak forward software pipeline and structurally higher hardware costs.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4864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46520" y="178308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cycles are lumpy by nature — the memory-chip shock is an industry-wide, AI-driven cost input, not Nintendo-specific, and the software pipeline concern is testable at the next Direct.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— DCF &amp; Scenario Analysis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201168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Upside/(Downside)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x0.55, WACC +100bp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13,304¥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+75.3%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modeled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27,776¥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x1.35, WACC -43bp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50,095¥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+560.1%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29,738¥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+291.9%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246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(25/50/25) and the Bear/Bull growth-and-margin multipliers are stated modeling assumptions, not sourced figures — change them freely to reflect your own view. Full build in the downloadable DCF workbook (this pitch's Research Toolkit).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inputs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3977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2.85%      Beta: 0.16      Equity Risk Premium: 5%      Cost of Debt (pre-tax): 2%      Tax Rate: 30%      WACC: 3.7%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526280"/>
            <a:ext cx="11247120" cy="1554480"/>
          </a:xfrm>
          <a:prstGeom prst="rect">
            <a:avLst/>
          </a:prstGeom>
          <a:solidFill>
            <a:srgbClr val="BC5B33">
              <a:alpha val="8000"/>
            </a:srgbClr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table is real, not a placeholder — pulled from the actual DCF workbook.
</a:t>
            </a:r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full Nintendo DCF workbook (this pitch's Research Toolkit) for the complete 5-year FCF build behind every number above, plus a live Bear/Base/Bull sheet where you can change any assumption and watch the target price recompute. Every hardcoded input there is sourced — see this deck's final Sources slide, or the workbook's own Sources tab.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Catalysts, Risks &amp; Appendix Checklist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timeline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5257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2-3 near-term dated events that would confirm or break this thesis — e.g. next earnings date, a specific regulatory decision, a contract renewal]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45920"/>
            <a:ext cx="5166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cycles are lumpy and hit-driven — depends on hardware attach rates and a strong first-party pipeline.
</a:t>
            </a:r>
            <a:pPr indent="0" marL="0">
              <a:buNone/>
            </a:pPr>
            <a:r>
              <a:rPr lang="en-US" sz="11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[?]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checklist — what a complete pack needs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112471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output + Bear/Base/Bull sensitivity — done on the previous slide and in the downloadable workbook; re-run it with your own view on growth, margin, or WACC before you present it as yours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number in this deck sourced on the next slide — cite the same sources yourself, don't just cite this deck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used to build the valuation on the DCF slide — where it came from, compiled August 2026. A dated snapshot, not a live feed: verify against a live quote before you present this.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457200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¥7,589 as of 3 Aug 2026 (stockanalysis.com)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~1,166m shares (derived from ¥8.85tn market cap ÷ ¥7,589 price, cross-checked against a separate ¥2.22tn net-cash-÷-per-share figure implying ~1.14bn — both aggregator sources disagreed on raw share count, this is the reconciled figure)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¥2.22 trillion, no meaningful debt (stockanalysis.com)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 — cross-checked and confirmed by a second source (Yahoo Finance 5Y monthly beta: 0.14-0.15), so this is genuinely measured, not a data error. IMPORTANT: this unusually low beta drives an unusually low WACC and a very large implied-upside result below — a real output of a real (if extreme) input, not a bug. Worth stress-testing this specific assumption in the Scenarios tab before presenting it as a headline number.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 10-year JGB yield, 2.85% (4 Aug 2026, MacroMicro)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(year to Mar 2026) net sales ¥2.313 trillion, +98.6% YoY (Nintendo FY26 results)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Estimated ~27% — Nintendo's FY26 results commentary did not surface a single clean blended operating-margin figure in this research; modeled at a level historically typical for Nintendo, flagged as an ESTIMATE, not a quoted figure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FY26's +98.6% was a one-off Switch 2 launch spike (19.86m units in 10 months) — modeled growth normalizes sharply once the launch cohort laps, consistent with a lumpy console-cycle business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2026-08-06T04:01:12Z</dcterms:created>
  <dcterms:modified xsi:type="dcterms:W3CDTF">2026-08-06T04:01:12Z</dcterms:modified>
</cp:coreProperties>
</file>