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000" b="0" i="0" u="none" strike="noStrike">
                <a:solidFill>
                  <a:srgbClr val="000000"/>
                </a:solidFill>
                <a:latin typeface="Arial"/>
              </a:rPr>
              <a:t>Implied Price (¥)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Price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F6B6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E7D5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6241F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Bear</c:v>
                  </c:pt>
                  <c:pt idx="1">
                    <c:v>Base</c:v>
                  </c:pt>
                  <c:pt idx="2">
                    <c:v>Bull</c:v>
                  </c:pt>
                  <c:pt idx="3">
                    <c:v>Current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13304.38</c:v>
                </c:pt>
                <c:pt idx="1">
                  <c:v>27775.91</c:v>
                </c:pt>
                <c:pt idx="2">
                  <c:v>50095.49</c:v>
                </c:pt>
                <c:pt idx="3">
                  <c:v>7589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0D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indent="0" marL="0">
              <a:buNone/>
            </a:pPr>
            <a:r>
              <a:rPr lang="en-US" sz="26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DECK TEMPLATE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Nintendo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2395728"/>
            <a:ext cx="731520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56032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E7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 </a:t>
            </a:r>
            <a:pPr indent="0" marL="0">
              <a:buNone/>
            </a:pPr>
            <a:r>
              <a:rPr lang="en-US" sz="2400" b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Nintendo (TYO: 7974)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48640" y="3200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Price: </a:t>
            </a:r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7,589¥
</a:t>
            </a:r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Price: </a:t>
            </a:r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29,738¥ </a:t>
            </a:r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3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(+291.9%)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39776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price is this pitch's own real DCF workbook (probability-weighted Bear/Base/Bull) — re-run it with your own assumptions before you present it as your view, not Bloombruh's.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5074920"/>
            <a:ext cx="1106424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52578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modeled on real Varsity Pitch Competition / OAF-style decks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57150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by: ____________________          Date: ____________________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6172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your pitch to present as your own — fill in your name above.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Record fundamentals, a 53% drawdown — a hype-vs-fundamentals gap running in reverse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NARRATIVE SUMMARY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72768"/>
            <a:ext cx="548640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691640"/>
            <a:ext cx="5486400" cy="77724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73736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 — the trigger
</a:t>
            </a:r>
            <a:pPr indent="0" marL="0">
              <a:buNone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 Nintendo Direct disappointment (-10% in one session) despite FY26 net sales +98.6% YoY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606040"/>
            <a:ext cx="502920" cy="292608"/>
          </a:xfrm>
          <a:prstGeom prst="chevron">
            <a:avLst/>
          </a:prstGeom>
          <a:solidFill>
            <a:srgbClr val="BC5B33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60604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935224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Switch 2 Hardware Cycle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3227832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net sales nearly doubled to ¥2.313tn — Switch 2 is the fastest-selling console in company history (19.86m units, 10 months)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904488"/>
            <a:ext cx="502920" cy="292608"/>
          </a:xfrm>
          <a:prstGeom prst="chevron">
            <a:avLst/>
          </a:prstGeom>
          <a:solidFill>
            <a:srgbClr val="BC5B33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904488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423367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Pokemon Franchise at Peak Strength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57200" y="452628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Pokemon Company: $3.33bn revenue, $752m net profit (FY to Feb 2026) — one of the franchise's strongest years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5202936"/>
            <a:ext cx="502920" cy="292608"/>
          </a:xfrm>
          <a:prstGeom prst="chevron">
            <a:avLst/>
          </a:prstGeom>
          <a:solidFill>
            <a:srgbClr val="BC5B33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5202936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55321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Specific, Addressable Catalysts Behind the Drawdown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7200" y="5824728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53% drawdown is driven by two dated, specific catalysts (a memory-chip cost shock, a thin software showcase) — not a broken business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17920" y="1280160"/>
            <a:ext cx="5486400" cy="210312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6355080" y="1280160"/>
            <a:ext cx="5212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stock price chart, last 12 months, vs. a relevant sector index — annotate the trigger date directly on the chart, like the reference decks do]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17920" y="3520440"/>
            <a:ext cx="2651760" cy="329184"/>
          </a:xfrm>
          <a:prstGeom prst="rect">
            <a:avLst/>
          </a:prstGeom>
          <a:solidFill>
            <a:srgbClr val="3E7D57"/>
          </a:solidFill>
          <a:ln/>
        </p:spPr>
      </p:sp>
      <p:sp>
        <p:nvSpPr>
          <p:cNvPr id="25" name="Text 23"/>
          <p:cNvSpPr/>
          <p:nvPr/>
        </p:nvSpPr>
        <p:spPr>
          <a:xfrm>
            <a:off x="6291072" y="3520440"/>
            <a:ext cx="2505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SEE UPSIDE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217920" y="3849624"/>
            <a:ext cx="2651760" cy="255117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D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27648" y="3904488"/>
            <a:ext cx="2432304" cy="2441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Switch 2 Hardware Cycle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Pokemon Franchise at Peak Strength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Specific, Addressable Catalysts Behind the Drawdown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052560" y="3520440"/>
            <a:ext cx="2651760" cy="3291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9" name="Text 27"/>
          <p:cNvSpPr/>
          <p:nvPr/>
        </p:nvSpPr>
        <p:spPr>
          <a:xfrm>
            <a:off x="9125712" y="3520440"/>
            <a:ext cx="2505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RISK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052560" y="3849624"/>
            <a:ext cx="2651760" cy="2551176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62288" y="3904488"/>
            <a:ext cx="2432304" cy="2441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 cycles are lumpy and hit-driven — depends on hardware attach rates and a strong first-party pipeline.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Nintendo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&amp; BUSINESS OVERVIEW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Gaming Hardware &amp; Software — Where Nintendo Sits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3566160" cy="329184"/>
          </a:xfrm>
          <a:prstGeom prst="rect">
            <a:avLst/>
          </a:prstGeom>
          <a:solidFill>
            <a:srgbClr val="BC5B33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1280160"/>
            <a:ext cx="3419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INDUSTRY DRIVERS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609344"/>
            <a:ext cx="3566160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664208"/>
            <a:ext cx="334670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growth driver 1 — cite your source]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growth driver 2]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growth driver 3]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160520" y="1280160"/>
            <a:ext cx="3794760" cy="237744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4297680" y="1280160"/>
            <a:ext cx="3520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industry-size or market-growth chart, with a CAGR annotation — see the reference decks' style]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92440" y="1280160"/>
            <a:ext cx="3611880" cy="329184"/>
          </a:xfrm>
          <a:prstGeom prst="rect">
            <a:avLst/>
          </a:prstGeom>
          <a:solidFill>
            <a:srgbClr val="BC5B33"/>
          </a:solidFill>
          <a:ln/>
        </p:spPr>
      </p:sp>
      <p:sp>
        <p:nvSpPr>
          <p:cNvPr id="13" name="Text 11"/>
          <p:cNvSpPr/>
          <p:nvPr/>
        </p:nvSpPr>
        <p:spPr>
          <a:xfrm>
            <a:off x="8165592" y="1280160"/>
            <a:ext cx="3465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COMPARABLE COMPANIES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92440" y="1609344"/>
            <a:ext cx="3611880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02168" y="1664208"/>
            <a:ext cx="339242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Sony Group — Games &amp; Network Services segment (TYO: 6758)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Take-Two Interactive (NASDAQ: TTWO)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 Arts (NASDAQ: EA)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7200" y="3794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087368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4206240"/>
            <a:ext cx="5486400" cy="219456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594360" y="4206240"/>
            <a:ext cx="5212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a simple business-model diagram — who pays whom, for what. Keep it to 4-5 boxes and arrows, like the reference decks' merchant/network diagrams]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17920" y="4206240"/>
            <a:ext cx="5486400" cy="329184"/>
          </a:xfrm>
          <a:prstGeom prst="rect">
            <a:avLst/>
          </a:prstGeom>
          <a:solidFill>
            <a:srgbClr val="BC5B33"/>
          </a:solidFill>
          <a:ln/>
        </p:spPr>
      </p:sp>
      <p:sp>
        <p:nvSpPr>
          <p:cNvPr id="21" name="Text 19"/>
          <p:cNvSpPr/>
          <p:nvPr/>
        </p:nvSpPr>
        <p:spPr>
          <a:xfrm>
            <a:off x="6291072" y="420624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COMPETITIVE ADVANTAGES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17920" y="4535424"/>
            <a:ext cx="5486400" cy="1865376"/>
          </a:xfrm>
          <a:prstGeom prst="rect">
            <a:avLst/>
          </a:prstGeom>
          <a:solidFill>
            <a:srgbClr val="FFFFFF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27648" y="4590288"/>
            <a:ext cx="5266944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advantage 1 — what stops a competitor copying this?]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advantage 2]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advantage 3]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Nintendo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THESIS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Record Switch 2 Hardware Cycle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801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net sales nearly doubled to ¥2.313tn — Switch 2 is the fastest-selling console in company history (19.86m units, 10 months)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11247120" cy="320040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594360" y="214884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the chart or data table that actually proves this thesis — a real trend line, not a summary of one. See this pitch's Research Toolkit for exactly where to pull it from. A real, dense chart is what separates these reference decks from a bullet-point skeleton — don't skip it.]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5486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Nintendo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THESIS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Pokemon Franchise at Peak Strength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801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Pokemon Company: $3.33bn revenue, $752m net profit (FY to Feb 2026) — one of the franchise's strongest years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11247120" cy="320040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594360" y="214884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the chart or data table that actually proves this thesis — a real trend line, not a summary of one. See this pitch's Research Toolkit for exactly where to pull it from. A real, dense chart is what separates these reference decks from a bullet-point skeleton — don't skip it.]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5486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Nintendo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STREET IS BEARISH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Here's the Honest Response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5440680" cy="3291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1280160"/>
            <a:ext cx="5294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BEAR CASE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609344"/>
            <a:ext cx="5440680" cy="4425696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664208"/>
            <a:ext cx="52212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is pricing in a weak forward software pipeline and structurally higher hardware costs.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5486400" cy="329184"/>
          </a:xfrm>
          <a:prstGeom prst="rect">
            <a:avLst/>
          </a:prstGeom>
          <a:solidFill>
            <a:srgbClr val="3E7D57"/>
          </a:solidFill>
          <a:ln/>
        </p:spPr>
      </p:sp>
      <p:sp>
        <p:nvSpPr>
          <p:cNvPr id="11" name="Text 9"/>
          <p:cNvSpPr/>
          <p:nvPr/>
        </p:nvSpPr>
        <p:spPr>
          <a:xfrm>
            <a:off x="6291072" y="128016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609344"/>
            <a:ext cx="5486400" cy="44256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D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1664208"/>
            <a:ext cx="526694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 cycles are lumpy by nature — the memory-chip shock is an industry-wide, AI-driven cost input, not Nintendo-specific, and the software pipeline concern is testable at the next Direct.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Nintendo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DCF &amp; Scenario Analysis — Real Numbers, Not Placeholders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858000" cy="201168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  <a:gridCol w="137160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Assumption Delta vs. Base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Target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 x0.55, WACC +100bp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13,304¥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+75.3%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 modeled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27,776¥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E7D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+266.0%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E7D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 x1.35, WACC -43bp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50,095¥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E7D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+560.1%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</a:tr>
              <a:tr h="402336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 Target Price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29,738¥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+291.9%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Chart 0" descr=""/>
          <p:cNvGraphicFramePr/>
          <p:nvPr/>
        </p:nvGraphicFramePr>
        <p:xfrm>
          <a:off x="7452360" y="1280160"/>
          <a:ext cx="425196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4"/>
          <p:cNvSpPr/>
          <p:nvPr/>
        </p:nvSpPr>
        <p:spPr>
          <a:xfrm>
            <a:off x="457200" y="336499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(25/50/25) and the Bear/Bull growth-and-margin multipliers are stated modeling assumptions, not sourced figures — change them freely on the DCF workbook's Scenarios tab.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457200" y="3703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WACC BUILD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3995928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57200" y="41148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Risk-free rate: 2.85%      Beta: 0.16      Equity Risk Premium: 5%      Cost of Equity: 3.65%      After-Tax Cost of Debt: 1.4%      Weight E/D: 100% / 0%      WACC: 3.7%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57200" y="4709160"/>
            <a:ext cx="11247120" cy="137160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40080" y="4828032"/>
            <a:ext cx="10881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table is real, pulled from the actual DCF workbook — not a placeholder.
</a:t>
            </a:r>
            <a:pPr indent="0" marL="0">
              <a:buNone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full Nintendo DCF workbook (this pitch's Research Toolkit) for the complete 5-year FCF build behind every number above, on a live Bear/Base/Bull sheet where changing any assumption recomputes the target price. Every hardcoded input there is sourced — see this deck's final Sources slide, or the workbook's own Sources tab.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Nintendo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DCF Summary — Base Case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949440" cy="3291840"/>
        </p:xfrm>
        <a:graphic>
          <a:graphicData uri="http://schemas.openxmlformats.org/drawingml/2006/table">
            <a:tbl>
              <a:tblPr/>
              <a:tblGrid>
                <a:gridCol w="2011680"/>
                <a:gridCol w="987552"/>
                <a:gridCol w="987552"/>
                <a:gridCol w="987552"/>
                <a:gridCol w="987552"/>
                <a:gridCol w="98755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2,428,650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2,525,796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2,601,570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2,679,617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2,760,005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655,736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681,965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715,432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736,895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772,802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EBIT margin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NOPAT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459,015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477,375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500,802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515,826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540,961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Plus: D&amp;A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72,860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75,774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78,047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80,389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82,800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Less: Capex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72,860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75,774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78,047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80,389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82,800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Less: Incr. NWC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Unlevered FCF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458,437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476,890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500,423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515,436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540,559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61772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figures in JPY billions unless noted; share price in JPY</a:t>
            </a:r>
            <a:endParaRPr lang="en-US" sz="9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280160"/>
          <a:ext cx="4114800" cy="1554480"/>
        </p:xfrm>
        <a:graphic>
          <a:graphicData uri="http://schemas.openxmlformats.org/drawingml/2006/table">
            <a:tbl>
              <a:tblPr/>
              <a:tblGrid>
                <a:gridCol w="2468880"/>
                <a:gridCol w="1645920"/>
              </a:tblGrid>
              <a:tr h="310896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Value Build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 hMerge="1"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 of PV of FCF (Yr 1-5)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2,234,014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33,416,383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PV of Terminal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27,932,699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30,166,713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2971800"/>
          <a:ext cx="4114800" cy="1920240"/>
        </p:xfrm>
        <a:graphic>
          <a:graphicData uri="http://schemas.openxmlformats.org/drawingml/2006/table">
            <a:tbl>
              <a:tblPr/>
              <a:tblGrid>
                <a:gridCol w="2468880"/>
                <a:gridCol w="1645920"/>
              </a:tblGrid>
              <a:tr h="274320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WACC Build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 hMerge="1"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 Capitalization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8,848,774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Debt (for weighting)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 of Equity / Debt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 / 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of Equity (CAPM)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After-Tax Cost of Debt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WACC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5"/>
          <p:cNvSpPr/>
          <p:nvPr/>
        </p:nvSpPr>
        <p:spPr>
          <a:xfrm>
            <a:off x="457200" y="5074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same Base-case build as the downloadable DCF workbook — the workbook additionally has the full Bear/Base/Bull re-derivation, live formulas, and a Sources tab. Every hardcoded input here is real and sourced; see the final Sources slide.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Nintendo</a:t>
            </a:r>
            <a:endParaRPr lang="en-US" sz="800" dirty="0"/>
          </a:p>
        </p:txBody>
      </p:sp>
      <p:sp>
        <p:nvSpPr>
          <p:cNvPr id="12" name="Text 7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CATALYSTS &amp; RISKS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We Win &amp; What Could Break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5486400" cy="329184"/>
          </a:xfrm>
          <a:prstGeom prst="rect">
            <a:avLst/>
          </a:prstGeom>
          <a:solidFill>
            <a:srgbClr val="BC5B33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128016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/ CATALYST TIMELINE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609344"/>
            <a:ext cx="5486400" cy="1773936"/>
          </a:xfrm>
          <a:prstGeom prst="rect">
            <a:avLst/>
          </a:prstGeom>
          <a:solidFill>
            <a:srgbClr val="FFFFFF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664208"/>
            <a:ext cx="526694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near-term dated event 1 — e.g. next earnings date]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event 2]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event 3]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5486400" cy="3291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1" name="Text 9"/>
          <p:cNvSpPr/>
          <p:nvPr/>
        </p:nvSpPr>
        <p:spPr>
          <a:xfrm>
            <a:off x="6291072" y="128016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RISK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609344"/>
            <a:ext cx="5486400" cy="1773936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1664208"/>
            <a:ext cx="526694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 cycles are lumpy and hit-driven — depends on hardware attach rates and a strong first-party pipeline.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Mitigant: [INSERT]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7200" y="36576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CHECKLIST — WHAT A COMPLETE PACK NEEDS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950208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069080"/>
            <a:ext cx="11247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comparable companies table (margins, growth, EV/EBITDA, P/E — see this pitch's Research Toolkit for real comps)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Porter's Five Forces for the industry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Precedent M&amp;A transactions in the sector, if relevant to the thesis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Management/insider activity summary (recent buying or selling, ownership %)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DCF output + Bear/Base/Bull sensitivity — done on the previous slides and in the downloadable workbook; re-run it with your own view before you present it as yours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real number in this deck sourced on the next slide — cite the same sources yourself, don't just cite this deck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Nintendo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&amp; Data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170432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hardcoded number used to build the valuation on the DCF slides — where it came from, compiled August 2026. A dated snapshot, not a live feed: verify against a live quote before you present this.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4480560"/>
        </p:xfrm>
        <a:graphic>
          <a:graphicData uri="http://schemas.openxmlformats.org/drawingml/2006/table">
            <a:tbl>
              <a:tblPr/>
              <a:tblGrid>
                <a:gridCol w="2560320"/>
                <a:gridCol w="8686800"/>
              </a:tblGrid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/ Note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price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¥7,589 as of 3 Aug 2026 (stockanalysis.com)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Shares outstanding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~1,166m shares (derived from ¥8.85tn market cap ÷ ¥7,589 price, cross-checked against a separate ¥2.22tn net-cash-÷-per-share figure implying ~1.14bn — both aggregator sources disagreed on raw share count, this is the reconciled figure)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debt / net cash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CASH ¥2.22 trillion, no meaningful debt (stockanalysis.com)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 — cross-checked and confirmed by a second source (Yahoo Finance 5Y monthly beta: 0.14-0.15), so this is genuinely measured, not a data error. IMPORTANT: this unusually low beta drives an unusually low WACC and a very large implied-upside result below — a real output of a real (if extreme) input, not a bug. Worth stress-testing this specific assumption in the Scenarios tab before presenting it as a headline number.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Risk-free rate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 10-year JGB yield, 2.85% (4 Aug 2026, MacroMicro)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FY0 revenue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FY26 (year to Mar 2026) net sales ¥2.313 trillion, +98.6% YoY (Nintendo FY26 results)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FY0 operating margin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Estimated ~27% — Nintendo's FY26 results commentary did not surface a single clean blended operating-margin figure in this research; modeled at a level historically typical for Nintendo, flagged as an ESTIMATE, not a quoted figure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growth path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FY26's +98.6% was a one-off Switch 2 launch spike (19.86m units in 10 months) — modeled growth normalizes sharply once the launch cohort laps, consistent with a lumpy console-cycle business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Nintendo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2026-08-06T04:30:31Z</dcterms:created>
  <dcterms:modified xsi:type="dcterms:W3CDTF">2026-08-06T04:30:31Z</dcterms:modified>
</cp:coreProperties>
</file>