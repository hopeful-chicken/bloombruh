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Arial"/>
              </a:rPr>
              <a:t>Implied Price (p)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Price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6B6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E7D5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26241F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Bear</c:v>
                  </c:pt>
                  <c:pt idx="1">
                    <c:v>Base</c:v>
                  </c:pt>
                  <c:pt idx="2">
                    <c:v>Bull</c:v>
                  </c:pt>
                  <c:pt idx="3">
                    <c:v>Current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185.65</c:v>
                </c:pt>
                <c:pt idx="1">
                  <c:v>268.98</c:v>
                </c:pt>
                <c:pt idx="2">
                  <c:v>362.98</c:v>
                </c:pt>
                <c:pt idx="3">
                  <c:v>186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0D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indent="0" marL="0">
              <a:buNone/>
            </a:pPr>
            <a:r>
              <a:rPr lang="en-US" sz="26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DECK TEMPLATE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Domino's Pizza Group plc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548640" y="2395728"/>
            <a:ext cx="731520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56032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E7D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 </a:t>
            </a:r>
            <a:pPr indent="0" marL="0">
              <a:buNone/>
            </a:pPr>
            <a:r>
              <a:rPr lang="en-US" sz="2400" b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Domino's Pizza Group plc (LSE: DOM)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186p
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Price: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272p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3E7D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(+46.0%)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397764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price is this pitch's own real DCF workbook (probability-weighted Bear/Base/Bull) — re-run it with your own assumptions before you present it as your view, not Bloombruh's.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5074920"/>
            <a:ext cx="1106424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5257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modeled on real Varsity Pitch Competition / OAF-style decks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5715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by: ____________________          Date: ____________________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17220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your pitch to present as your own — fill in your name above.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PITCH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UK quick-service bellwether, re-accelerating on chicken and loyalty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NARRATIVE SUMMARY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1572768"/>
            <a:ext cx="548640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691640"/>
            <a:ext cx="5486400" cy="77724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73736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now — the trigger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system sales +6.1% to £825.3m, like-for-like +4.9%, driven by national Chick 'N' Dip rollout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06040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7200" y="293522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Diversification Is Driving Order Value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57200" y="3227832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range carries a higher average order value (£36 vs. £26 pizza-only) and cross-sells well (87% of chicken buyers also buy pizza)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904488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904488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4233672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Discipline Over Store-Count Growth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shift toward same-store growth and unit profitability, away from pure store-count expansion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7200" y="5202936"/>
            <a:ext cx="502920" cy="292608"/>
          </a:xfrm>
          <a:prstGeom prst="chevron">
            <a:avLst/>
          </a:prstGeom>
          <a:solidFill>
            <a:srgbClr val="BC5B33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5202936"/>
            <a:ext cx="3840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55321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as a Structural (Not One-Off) Lever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7200" y="5824728"/>
            <a:ext cx="5394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Domino's Rewards loyalty programme: 2.2m enrolled ahead of full national rollout in Q4 2026 — a second, structural growth lever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280160"/>
            <a:ext cx="5486400" cy="210312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6355080" y="12801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stock price chart, last 12 months, vs. a relevant sector index — annotate the trigger date directly on the chart, like the reference decks do]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217920" y="3520440"/>
            <a:ext cx="265176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25" name="Text 23"/>
          <p:cNvSpPr/>
          <p:nvPr/>
        </p:nvSpPr>
        <p:spPr>
          <a:xfrm>
            <a:off x="629107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SEE UPSIDE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21792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2764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Diversification Is Driving Order Value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Discipline Over Store-Count Growth</a:t>
            </a:r>
            <a:endParaRPr lang="en-US" sz="100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Loyalty as a Structural (Not One-Off) Lever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052560" y="3520440"/>
            <a:ext cx="265176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9" name="Text 27"/>
          <p:cNvSpPr/>
          <p:nvPr/>
        </p:nvSpPr>
        <p:spPr>
          <a:xfrm>
            <a:off x="9125712" y="3520440"/>
            <a:ext cx="2505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3849624"/>
            <a:ext cx="2651760" cy="255117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62288" y="3904488"/>
            <a:ext cx="2432304" cy="2441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9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cost inflation and a genuinely competitive delivery market pressuring margins.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&amp; BUSINESS OVERVIEW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Quick-Service Restaurants (UK) — Where Domino's Pizza Group plc Sits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356616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3419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INDUSTRY DRIVERS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356616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334670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1 — cite your source]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growth driver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160520" y="1280160"/>
            <a:ext cx="3794760" cy="237744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4297680" y="1280160"/>
            <a:ext cx="3520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industry-size or market-growth chart, with a CAGR annotation — see the reference decks' style]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61188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13" name="Text 11"/>
          <p:cNvSpPr/>
          <p:nvPr/>
        </p:nvSpPr>
        <p:spPr>
          <a:xfrm>
            <a:off x="8165592" y="1280160"/>
            <a:ext cx="34655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COMPANIES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1609344"/>
            <a:ext cx="3611880" cy="204825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02168" y="1664208"/>
            <a:ext cx="3392424" cy="1938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Greggs (LSE: GRG)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Restaurant Group / Wagamama (LSE: RTN)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794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08736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4206240"/>
            <a:ext cx="5486400" cy="219456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594360" y="4206240"/>
            <a:ext cx="52120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 simple business-model diagram — who pays whom, for what. Keep it to 4-5 boxes and arrows, like the reference decks' merchant/network diagrams]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21" name="Text 19"/>
          <p:cNvSpPr/>
          <p:nvPr/>
        </p:nvSpPr>
        <p:spPr>
          <a:xfrm>
            <a:off x="6291072" y="420624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COMPETITIVE ADVANTAGES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535424"/>
            <a:ext cx="5486400" cy="186537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27648" y="4590288"/>
            <a:ext cx="5266944" cy="1755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1 — what stops a competitor copying this?]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advantage 3]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Menu Diversification Is Driving Order Value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Chicken range carries a higher average order value (£36 vs. £26 pizza-only) and cross-sells well (87% of chicken buyers also buy pizza)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THESIS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Capital Discipline Over Store-Count Growth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11247120" cy="6858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80160"/>
            <a:ext cx="10972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shift toward same-store growth and unit profitability, away from pure store-count expansion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11247120" cy="3200400"/>
          </a:xfrm>
          <a:prstGeom prst="rect">
            <a:avLst/>
          </a:prstGeom>
          <a:solidFill>
            <a:srgbClr val="FCFBF8"/>
          </a:solidFill>
          <a:ln w="12700">
            <a:solidFill>
              <a:srgbClr val="E3E0D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594360" y="2148840"/>
            <a:ext cx="109728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the chart or data table that actually proves this thesis — a real trend line, not a summary of one. See this pitch's Research Toolkit for exactly where to pull it from. A real, dense chart is what separates these reference decks from a bullet-point skeleton — don't skip it.]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57200" y="54864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NOTES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580644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6126480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STREET IS BEARISH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Here's the Honest Response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4068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2943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BEAR CASE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4068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2122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consumer spending is under pressure, and the delivery market (Deliveroo, Uber Eats) is intensely competitive.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3E7D57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REBUTTAL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4425696"/>
          </a:xfrm>
          <a:prstGeom prst="rect">
            <a:avLst/>
          </a:prstGeom>
          <a:solidFill>
            <a:srgbClr val="FFFFFF"/>
          </a:solidFill>
          <a:ln w="12700">
            <a:solidFill>
              <a:srgbClr val="3E7D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4315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3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— the bull case depends on loyalty/menu innovation driving order value and frequency faster than input costs rise. Worth explicitly separating volume growth from price/mix growth in the model.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&amp; Scenario Analysis — Real Numbers, Not Placeholders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858000" cy="201168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 Assumption Delta vs. 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Target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x0.55, WACC +100bp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186p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7E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 modeled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269p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+44.6%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x1.35, WACC -100bp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363p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E7D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+95.2%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E8"/>
                    </a:solidFill>
                  </a:tcPr>
                </a:tc>
              </a:tr>
              <a:tr h="40233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 Target 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272p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5B3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Chart 0" descr=""/>
          <p:cNvGraphicFramePr/>
          <p:nvPr/>
        </p:nvGraphicFramePr>
        <p:xfrm>
          <a:off x="7452360" y="1280160"/>
          <a:ext cx="425196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336499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Weights (25/50/25) and the Bear/Bull growth-and-margin multipliers are stated modeling assumptions, not sourced figures — change them freely on the DCF workbook's Scenarios tab.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457200" y="37033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 BUILD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457200" y="399592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57200" y="4114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Risk-free rate: 4.99%      Beta: 1.67      Equity Risk Premium: 5%      Cost of Equity: 13.34%      After-Tax Cost of Debt: 4.88%      Weight E/D: 100% / 0%      WACC: 13.3%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57200" y="4709160"/>
            <a:ext cx="11247120" cy="1371600"/>
          </a:xfrm>
          <a:prstGeom prst="rect">
            <a:avLst/>
          </a:prstGeom>
          <a:solidFill>
            <a:srgbClr val="F7E9E1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40080" y="4828032"/>
            <a:ext cx="108813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994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table is real, pulled from the actual DCF workbook — not a placeholder.
</a:t>
            </a:r>
            <a:pPr indent="0" marL="0">
              <a:buNone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full Domino's Pizza Group plc DCF workbook (this pitch's Research Toolkit) for the complete 5-year FCF build behind every number above, on a live Bear/Base/Bull sheet where changing any assumption recomputes the target price. Every hardcoded input there is sourced — see this deck's final Sources slide, or the workbook's own Sources tab.</a:t>
            </a:r>
            <a:endParaRPr lang="en-US" sz="1150" dirty="0"/>
          </a:p>
        </p:txBody>
      </p:sp>
      <p:sp>
        <p:nvSpPr>
          <p:cNvPr id="14" name="Text 10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Summary — Base Case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6949440" cy="3291840"/>
        </p:xfrm>
        <a:graphic>
          <a:graphicData uri="http://schemas.openxmlformats.org/drawingml/2006/table">
            <a:tbl>
              <a:tblPr/>
              <a:tblGrid>
                <a:gridCol w="2011680"/>
                <a:gridCol w="987552"/>
                <a:gridCol w="987552"/>
                <a:gridCol w="987552"/>
                <a:gridCol w="987552"/>
                <a:gridCol w="98755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FY+5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EBIT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NOPAT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Plus: D&amp;A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Capex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Less: Incr. NWC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Unlevered FCF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46177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figures in GBP millions unless noted; share price in pence (p)</a:t>
            </a:r>
            <a:endParaRPr lang="en-US" sz="9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280160"/>
          <a:ext cx="4114800" cy="155448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310896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 of PV of FCF (Yr 1-5)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PV of Terminal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971800"/>
          <a:ext cx="4114800" cy="192024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</a:tblGrid>
              <a:tr h="274320">
                <a:tc gridSpan="2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 Build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 hMerge="1"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Capitalization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(for weighting)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 of Equity /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 / 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of Equity (CAPM)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After-Tax Cost of Debt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WACC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624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457200" y="507492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same Base-case build as the downloadable DCF workbook — the workbook additionally has the full Bear/Base/Bull re-derivation, live formulas, and a Sources tab. Every hardcoded input here is real and sourced; see the final Sources slide.</a:t>
            </a:r>
            <a:endParaRPr lang="en-US" sz="1000" dirty="0"/>
          </a:p>
        </p:txBody>
      </p:sp>
      <p:sp>
        <p:nvSpPr>
          <p:cNvPr id="11" name="Text 6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2" name="Text 7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CATALYSTS &amp; RISKS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We Win &amp; What Could Break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1280160"/>
            <a:ext cx="5486400" cy="329184"/>
          </a:xfrm>
          <a:prstGeom prst="rect">
            <a:avLst/>
          </a:prstGeom>
          <a:solidFill>
            <a:srgbClr val="BC5B33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/ CATALYST TIMELINE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BC5B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near-term dated event 1 — e.g. next earnings date]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2]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[INSERT: event 3]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5486400" cy="329184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11" name="Text 9"/>
          <p:cNvSpPr/>
          <p:nvPr/>
        </p:nvSpPr>
        <p:spPr>
          <a:xfrm>
            <a:off x="6291072" y="1280160"/>
            <a:ext cx="5340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17920" y="1609344"/>
            <a:ext cx="5486400" cy="1773936"/>
          </a:xfrm>
          <a:prstGeom prst="rect">
            <a:avLst/>
          </a:prstGeom>
          <a:solidFill>
            <a:srgbClr val="FFFFFF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27648" y="1664208"/>
            <a:ext cx="5266944" cy="1664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cost inflation and a genuinely competitive delivery market pressuring margins.</a:t>
            </a:r>
            <a:endParaRPr lang="en-US" sz="1050" dirty="0"/>
          </a:p>
          <a:p>
            <a:pPr marL="342900" indent="-342900">
              <a:spcAft>
                <a:spcPts val="400"/>
              </a:spcAft>
              <a:buSzPct val="100000"/>
              <a:buChar char="–"/>
            </a:pPr>
            <a:r>
              <a:rPr lang="en-US" sz="105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Mitigant: [INSERT]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36576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CHECKLIST — WHAT A COMPLETE PACK NEEDS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950208"/>
            <a:ext cx="11247120" cy="0"/>
          </a:xfrm>
          <a:prstGeom prst="line">
            <a:avLst/>
          </a:prstGeom>
          <a:noFill/>
          <a:ln w="12700">
            <a:solidFill>
              <a:srgbClr val="E3E0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40690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comparable companies table (margins, growth, EV/EBITDA, P/E — see this pitch's Research Toolkit for real comps)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for the industry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Precedent M&amp;A transactions in the sector, if relevant to the thesis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Management/insider activity summary (recent buying or selling, ownership %)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output + Bear/Base/Bull sensitivity — done on the previous slides and in the downloadable workbook; re-run it with your own view before you present it as yours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2624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real number in this deck sourced on the next slide — cite the same sources yourself, don't just cite this deck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BC5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Sources &amp; Data Appendix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0378440" y="320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i="1" dirty="0">
                <a:solidFill>
                  <a:srgbClr val="2624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Bloom</a:t>
            </a:r>
            <a:pPr algn="r" indent="0" marL="0">
              <a:buNone/>
            </a:pPr>
            <a:r>
              <a:rPr lang="en-US" sz="1800" b="1" i="1" dirty="0">
                <a:solidFill>
                  <a:srgbClr val="BC5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bruh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11247120" cy="0"/>
          </a:xfrm>
          <a:prstGeom prst="line">
            <a:avLst/>
          </a:prstGeom>
          <a:noFill/>
          <a:ln w="25400">
            <a:solidFill>
              <a:srgbClr val="BC5B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170432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hardcoded number used to build the valuation on the DCF slides — where it came from, compiled August 2026. A dated snapshot, not a live feed: verify against a live quote before you present this.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47120" cy="4480560"/>
        </p:xfrm>
        <a:graphic>
          <a:graphicData uri="http://schemas.openxmlformats.org/drawingml/2006/table">
            <a:tbl>
              <a:tblPr/>
              <a:tblGrid>
                <a:gridCol w="2560320"/>
                <a:gridCol w="8686800"/>
              </a:tblGrid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/ Note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241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price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~186p — DERIVED (market cap £721.91m, 14 May 2026, ÷ modeled shares outstanding) — not a directly quoted live price; verify against a live quote before presenting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Shares outstanding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~388m — DERIVED from TTM EPS (15.07p) × TTM P/E (12.35x) ≈ 186p implied price, then market cap ÷ implied price. This is a reconciled estimate, not a directly sourced share count — flagged clearly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debt / net cash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net CASH position modeled — reported Debt/Equity of -622% implied more cash than equity, an extreme and likely distorted ratio, so a conservative small net-cash figure is used instead of trusting that ratio directly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1.67 (stockanalysis.com)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Risk-free rate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 10-year gilt yield, 4.99%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revenue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FY2026E £707.2m — H1 2026 revenue of £353.6m doubled as a simple full-year approximation (not a true seasonally-adjusted annualization) — flagged clearly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FY0 operating margin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~18.7% EBITDA margin (H1 2026 underlying EBITDA £66.2m / revenue £353.6m) — used as a proxy for operating margin given no separate EBIT figure was found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1EA"/>
                    </a:solidFill>
                  </a:tcPr>
                </a:tc>
              </a:tr>
              <a:tr h="4978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growth 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6F6B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Anchored to H1 2026's like-for-like sales growth of 4.9% and system sales growth of 6.1%, with Chick'N'Dip and loyalty rollout as near-term drivers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t">
                    <a:lnL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E0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65379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Bloombruh Research Toolkit — Domino's Pizza Group plc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521440" y="65379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F6B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2026-08-06T04:30:31Z</dcterms:created>
  <dcterms:modified xsi:type="dcterms:W3CDTF">2026-08-06T04:30:31Z</dcterms:modified>
</cp:coreProperties>
</file>