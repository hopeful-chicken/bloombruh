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BC5B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Domino's Pizza Group plc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LSE: DOM   ·   Quick-Service Restaurants (UK)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UK quick-service bellwether, re-accelerating on chicken and loyalty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486400"/>
            <a:ext cx="11064240" cy="0"/>
          </a:xfrm>
          <a:prstGeom prst="line">
            <a:avLst/>
          </a:prstGeom>
          <a:noFill/>
          <a:ln w="12700">
            <a:solidFill>
              <a:srgbClr val="3C38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Price: ____________     Target Price: ____________     Upside/Downside: ____________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____________________          Date: ____________________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Pitch Deck Template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1051560"/>
          </a:xfrm>
          <a:prstGeom prst="rect">
            <a:avLst/>
          </a:prstGeom>
          <a:solidFill>
            <a:srgbClr val="BC5B3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887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the trigger
</a:t>
            </a:r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2026: system sales +6.1% to £825.3m, like-for-like +4.9%, driven by national Chick 'N' Dip rollout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see upside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6301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Diversification Is Driving Order Value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3264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 range carries a higher average order value (£36 vs. £26 pizza-only) and cross-sells well (87% of chicken buyers also buy pizza)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70248" y="2834640"/>
            <a:ext cx="36301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53128" y="342900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Discipline Over Store-Count Growth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53128" y="3977640"/>
            <a:ext cx="3264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shift toward same-store growth and unit profitability, away from pure store-count expansion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83296" y="2834640"/>
            <a:ext cx="36301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6176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66176" y="342900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as a Structural (Not One-Off) Lever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66176" y="3977640"/>
            <a:ext cx="3264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Domino's Rewards loyalty programme: 2.2m enrolled ahead of full national rollout in Q4 2026 — a second, structural growth lever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983480"/>
            <a:ext cx="11247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94360" y="498348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stock price chart, last 12 months, vs. a relevant sector index — annotate the trigger date directly on the chart]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Domino's Pizza Group plc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&amp; Business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94360" y="1143000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industry size/growth chart — cite your source directly on the slide]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172200" y="114300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309360" y="1143000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revenue mix / business model diagram — where does the money actually come from?]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comparables to know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Greggs (LSE: GRG)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Restaurant Group / Wagamama (LSE: RTN)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Domino's Pizza Group plc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Thesis 1 — Menu Diversification Is Driving Order Value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47120" cy="822960"/>
          </a:xfrm>
          <a:prstGeom prst="rect">
            <a:avLst/>
          </a:prstGeom>
          <a:solidFill>
            <a:srgbClr val="BC5B3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 range carries a higher average order value (£36 vs. £26 pizza-only) and cross-sells well (87% of chicken buyers also buy pizza)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471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" y="2148840"/>
            <a:ext cx="10972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the chart or data table that actually proves this thesis — pull it from a primary source, not a summary of one. See this pitch's Research Toolkit for exactly where to look.]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Domino's Pizza Group plc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Thesis 2 — Capital Discipline Over Store-Count Growth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47120" cy="822960"/>
          </a:xfrm>
          <a:prstGeom prst="rect">
            <a:avLst/>
          </a:prstGeom>
          <a:solidFill>
            <a:srgbClr val="BC5B3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shift toward same-store growth and unit profitability, away from pure store-count expansion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471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" y="2148840"/>
            <a:ext cx="10972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the chart or data table that actually proves this thesis — pull it from a primary source, not a summary of one. See this pitch's Research Toolkit for exactly where to look.]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Domino's Pizza Group plc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Street Is Bearish — Here's the Honest Response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406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716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BEAR CASE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consumer spending is under pressure, and the delivery market (Deliveroo, Uber Eats) is intensely competitive.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54864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C5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REBUTTAL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46520" y="178308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— the bull case depends on loyalty/menu innovation driving order value and frequency faster than input costs rise. Worth explicitly separating volume growth from price/mix growth in the model.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Domino's Pizza Group plc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 — DCF &amp; Scenario Analysis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201168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Assumption Delta vs. 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Upside/(Downside)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x0.55, WACC +100bp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modeled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269p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+44.6%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x1.35, WACC -100bp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363p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+95.2%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Target Price: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272p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2461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(25/50/25) and the Bear/Bull growth-and-margin multipliers are stated modeling assumptions, not sourced figures — change them freely to reflect your own view. Full build in the downloadable DCF workbook (this pitch's Research Toolkit).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WACC inputs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977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rate: 4.99%      Beta: 1.67      Equity Risk Premium: 5%      Cost of Debt (pre-tax): 6.5%      Tax Rate: 25%      WACC: 13.3%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526280"/>
            <a:ext cx="11247120" cy="1554480"/>
          </a:xfrm>
          <a:prstGeom prst="rect">
            <a:avLst/>
          </a:prstGeom>
          <a:solidFill>
            <a:srgbClr val="BC5B33">
              <a:alpha val="8000"/>
            </a:srgbClr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46634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table is real, not a placeholder — pulled from the actual DCF workbook.
</a:t>
            </a:r>
            <a:pPr indent="0" marL="0">
              <a:buNone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full Domino's Pizza Group plc DCF workbook (this pitch's Research Toolkit) for the complete 5-year FCF build behind every number above, plus a live Bear/Base/Bull sheet where you can change any assumption and watch the target price recompute. Every hardcoded input there is sourced — see this deck's final Sources slide, or the workbook's own Sources tab.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Domino's Pizza Group plc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Catalysts, Risks &amp; Appendix Checklist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timeline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532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5257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2-3 near-term dated events that would confirm or break this thesis — e.g. next earnings date, a specific regulatory decision, a contract renewal]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7220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532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645920"/>
            <a:ext cx="5166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cost inflation and a genuinely competitive delivery market pressuring margins.
</a:t>
            </a:r>
            <a:pPr indent="0" marL="0">
              <a:buNone/>
            </a:pPr>
            <a:r>
              <a:rPr lang="en-US" sz="11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Mitigant: [?]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checklist — what a complete pack needs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112471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comparable companies table (margins, growth, EV/EBITDA, P/E — see this pitch's Research Toolkit for real comps)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Porter's Five Forces for the industry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M&amp;A transactions in the sector, if relevant to the thesis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Management/insider activity summary (recent buying or selling, ownership %)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output + Bear/Base/Bull sensitivity — done on the previous slide and in the downloadable workbook; re-run it with your own view on growth, margin, or WACC before you present it as yours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number in this deck sourced on the next slide — cite the same sources yourself, don't just cite this deck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Domino's Pizza Group plc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Data Appendix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hardcoded number used to build the valuation on the DCF slide — where it came from, compiled August 2026. A dated snapshot, not a live feed: verify against a live quote before you present this.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/>
              <a:tblGrid>
                <a:gridCol w="2560320"/>
                <a:gridCol w="8686800"/>
              </a:tblGrid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5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5B3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~186p — DERIVED (market cap £721.91m, 14 May 2026, ÷ modeled shares outstanding) — not a directly quoted live price; verify against a live quote before presenting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 outstanding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~388m — DERIVED from TTM EPS (15.07p) × TTM P/E (12.35x) ≈ 186p implied price, then market cap ÷ implied price. This is a reconciled estimate, not a directly sourced share count — flagged clearly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debt / net cash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net CASH position modeled — reported Debt/Equity of -622% implied more cash than equity, an extreme and likely distorted ratio, so a conservative small net-cash figure is used instead of trusting that ratio directly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1.67 (stockanalysis.com)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Risk-free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10-year gilt yield, 4.99%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FY0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FY2026E £707.2m — H1 2026 revenue of £353.6m doubled as a simple full-year approximation (not a true seasonally-adjusted annualization) — flagged clearly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FY0 operating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~18.7% EBITDA margin (H1 2026 underlying EBITDA £66.2m / revenue £353.6m) — used as a proxy for operating margin given no separate EBIT figure was found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growth 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Anchored to H1 2026's like-for-like sales growth of 4.9% and system sales growth of 6.1%, with Chick'N'Dip and loyalty rollout as near-term drivers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Domino's Pizza Group plc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2026-08-06T04:01:12Z</dcterms:created>
  <dcterms:modified xsi:type="dcterms:W3CDTF">2026-08-06T04:01:12Z</dcterms:modified>
</cp:coreProperties>
</file>