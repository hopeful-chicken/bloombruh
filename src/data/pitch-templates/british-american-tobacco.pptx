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BC5B3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British American Tobacco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3E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LSE: BATS   ·   Consumer Staples — Tobacco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794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C5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ESG-exclusion case study, backed by a £1.3bn buyback and a profitable New Categories pivot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5486400"/>
            <a:ext cx="11064240" cy="0"/>
          </a:xfrm>
          <a:prstGeom prst="line">
            <a:avLst/>
          </a:prstGeom>
          <a:noFill/>
          <a:ln w="12700">
            <a:solidFill>
              <a:srgbClr val="3C38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3E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Price: ____________     Target Price: ____________     Upside/Downside: ____________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____________________          Date: ____________________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Pitch Deck Template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Pitch Summary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1247120" cy="1051560"/>
          </a:xfrm>
          <a:prstGeom prst="rect">
            <a:avLst/>
          </a:prstGeom>
          <a:solidFill>
            <a:srgbClr val="BC5B33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18872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 — the trigger
</a:t>
            </a:r>
            <a:pPr indent="0" marL="0">
              <a:buNone/>
            </a:pPr>
            <a:r>
              <a:rPr lang="en-US" sz="13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£1.3bn 2026 buyback announced alongside New Categories (Vuse, Velo) returning to double-digit growth and profitability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see upside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36301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971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C5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3429000"/>
            <a:ext cx="3264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Categories: From Cost Center to Profit Engine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977640"/>
            <a:ext cx="3264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 reached a #2 volume/value category position within a year of a key launch, and is already profitable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270248" y="2834640"/>
            <a:ext cx="36301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53128" y="2971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C5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453128" y="3429000"/>
            <a:ext cx="3264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Return Discipline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53128" y="3977640"/>
            <a:ext cx="3264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Management's algorithm: +3-5% revenue, +4-6% profit, +5-8% EPS growth, funded by strong free cash generation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083296" y="2834640"/>
            <a:ext cx="36301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66176" y="2971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C5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266176" y="3429000"/>
            <a:ext cx="3264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Structural (Not Fundamental) Valuation Discount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66176" y="3977640"/>
            <a:ext cx="3264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Low-teens P/E and a high dividend yield reflect wide exclusion from ESG-screened capital (e.g. NBIM) — a valuation gap independent of fundamentals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4983480"/>
            <a:ext cx="11247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3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594360" y="4983480"/>
            <a:ext cx="10972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stock price chart, last 12 months, vs. a relevant sector index — annotate the trigger date directly on the chart]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British American Tobacco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&amp; Business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55321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3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594360" y="1143000"/>
            <a:ext cx="5257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industry size/growth chart — cite your source directly on the slide]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172200" y="1143000"/>
            <a:ext cx="55321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3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6309360" y="1143000"/>
            <a:ext cx="5257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revenue mix / business model diagram — where does the money actually come from?]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977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comparables to know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443484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Philip Morris International (NYSE: PM)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Imperial Brands (LSE: IMB)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 Tobacco (TSE: 2914)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British American Tobacco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Investment Thesis 1 — New Categories: From Cost Center to Profit Engine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1247120" cy="822960"/>
          </a:xfrm>
          <a:prstGeom prst="rect">
            <a:avLst/>
          </a:prstGeom>
          <a:solidFill>
            <a:srgbClr val="BC5B33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1430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 reached a #2 volume/value category position within a year of a key launch, and is already profitable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112471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3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94360" y="2148840"/>
            <a:ext cx="10972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the chart or data table that actually proves this thesis — pull it from a primary source, not a summary of one. See this pitch's Research Toolkit for exactly where to look.]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5440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notes: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5806440"/>
            <a:ext cx="11247120" cy="0"/>
          </a:xfrm>
          <a:prstGeom prst="line">
            <a:avLst/>
          </a:prstGeom>
          <a:noFill/>
          <a:ln w="12700">
            <a:solidFill>
              <a:srgbClr val="E3E0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6126480"/>
            <a:ext cx="11247120" cy="0"/>
          </a:xfrm>
          <a:prstGeom prst="line">
            <a:avLst/>
          </a:prstGeom>
          <a:noFill/>
          <a:ln w="12700">
            <a:solidFill>
              <a:srgbClr val="E3E0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British American Tobacco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Investment Thesis 2 — Capital Return Discipline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1247120" cy="822960"/>
          </a:xfrm>
          <a:prstGeom prst="rect">
            <a:avLst/>
          </a:prstGeom>
          <a:solidFill>
            <a:srgbClr val="BC5B33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1430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Management's algorithm: +3-5% revenue, +4-6% profit, +5-8% EPS growth, funded by strong free cash generation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112471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3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94360" y="2148840"/>
            <a:ext cx="10972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the chart or data table that actually proves this thesis — pull it from a primary source, not a summary of one. See this pitch's Research Toolkit for exactly where to look.]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5440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notes: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5806440"/>
            <a:ext cx="11247120" cy="0"/>
          </a:xfrm>
          <a:prstGeom prst="line">
            <a:avLst/>
          </a:prstGeom>
          <a:noFill/>
          <a:ln w="12700">
            <a:solidFill>
              <a:srgbClr val="E3E0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6126480"/>
            <a:ext cx="11247120" cy="0"/>
          </a:xfrm>
          <a:prstGeom prst="line">
            <a:avLst/>
          </a:prstGeom>
          <a:noFill/>
          <a:ln w="12700">
            <a:solidFill>
              <a:srgbClr val="E3E0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British American Tobacco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Street Is Bearish — Here's the Honest Response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4406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37160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BEAR CASE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4983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decline in combustible cigarette volumes across developed markets is permanent.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17920" y="1188720"/>
            <a:ext cx="548640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BC5B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46520" y="1371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REBUTTAL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46520" y="1783080"/>
            <a:ext cx="5029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— the entire bull case depends on New Categories growing/staying profitable fast enough to replace that decline before it erodes the dividend. This is the one real swing factor to model carefully.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British American Tobacco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Valuation — DCF &amp; Scenario Analysis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2011680"/>
        </p:xfrm>
        <a:graphic>
          <a:graphicData uri="http://schemas.openxmlformats.org/drawingml/2006/table">
            <a:tbl>
              <a:tblPr/>
              <a:tblGrid>
                <a:gridCol w="2811780"/>
                <a:gridCol w="2811780"/>
                <a:gridCol w="2811780"/>
                <a:gridCol w="281178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Assumption Delta vs. Base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Target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[?]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[?]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[?]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[?]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[?]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[?]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[?]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[?]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[?]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Target Price: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[?]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429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WACC inputs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38404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Risk-free rate: [?]      Beta: [?]      Equity Risk Premium: [?]      Cost of Debt (pre-tax): [?]      Tax Rate: [?]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4526280"/>
            <a:ext cx="11247120" cy="1554480"/>
          </a:xfrm>
          <a:prstGeom prst="rect">
            <a:avLst/>
          </a:prstGeom>
          <a:solidFill>
            <a:srgbClr val="BC5B33">
              <a:alpha val="8000"/>
            </a:srgbClr>
          </a:solidFill>
          <a:ln w="12700">
            <a:solidFill>
              <a:srgbClr val="BC5B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466344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9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this in Excel — don't guess at a DCF freehand.
</a:t>
            </a:r>
            <a:pPr indent="0" marL="0">
              <a:buNone/>
            </a:pPr>
            <a:r>
              <a:rPr lang="en-US" sz="11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the DCF and Trading Comps templates at bloombruh.com/templates — pick "British American Tobacco" or the closest available sector match. Every cell is a live formula prefilled with real data; you only need to adjust the assumptions above.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British American Tobacco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Catalysts, Risks &amp; Appendix Checklist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timeline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5321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3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94360" y="1508760"/>
            <a:ext cx="5257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2-3 near-term dated events that would confirm or break this thesis — e.g. next earnings date, a specific regulatory decision, a contract renewal]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172200" y="1143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risk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1508760"/>
            <a:ext cx="55321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1645920"/>
            <a:ext cx="5166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Structural, permanent decline in combustible volumes; New Categories must outrun it.
</a:t>
            </a:r>
            <a:pPr indent="0" marL="0">
              <a:buNone/>
            </a:pPr>
            <a:r>
              <a:rPr lang="en-US" sz="115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Mitigant: [?]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3703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checklist — what a complete pack needs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114800"/>
            <a:ext cx="11247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comparable companies table (margins, growth, EV/EBITDA, P/E — see this pitch's Research Toolkit for real comps)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Porter's Five Forces for the industry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Precedent M&amp;A transactions in the sector, if relevant to the thesis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Management/insider activity summary (recent buying or selling, ownership %)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DCF output + sensitivity table (price target vs. WACC and terminal growth/exit multiple)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British American Tobacco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2026-08-05T15:29:37Z</dcterms:created>
  <dcterms:modified xsi:type="dcterms:W3CDTF">2026-08-05T15:29:37Z</dcterms:modified>
</cp:coreProperties>
</file>