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3852.7</c:v>
                </c:pt>
                <c:pt idx="1">
                  <c:v>6014.23</c:v>
                </c:pt>
                <c:pt idx="2">
                  <c:v>9427.38</c:v>
                </c:pt>
                <c:pt idx="3">
                  <c:v>4497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British American Tobacco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British American Tobacco (LSE: BATS)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4,497p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6,327p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(+40.7%)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ESG-exclusion case study, backed by a £1.3bn buyback and a profitable New Categories pivot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£1.3bn 2026 buyback announced alongside New Categories (Vuse, Velo) returning to double-digit growth and profitability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Categories: From Cost Center to Profit Engine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 reached a #2 volume/value category position within a year of a key launch, and is already profitable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Return Discipline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Management's algorithm: +3-5% revenue, +4-6% profit, +5-8% EPS growth, funded by strong free cash generation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(Not Fundamental) Valuation Discount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Low-teens P/E and a high dividend yield reflect wide exclusion from ESG-screened capital (e.g. NBIM) — a valuation gap independent of fundamentals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Categories: From Cost Center to Profit Engine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Return Discipline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(Not Fundamental) Valuation Discount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permanent decline in combustible volumes; New Categories must outrun it.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Staples — Tobacco — Where British American Tobacco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Morris International (NYSE: PM)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 Brands (LSE: IMB)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Tobacco (TSE: 2914)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Categories: From Cost Center to Profit Engine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 reached a #2 volume/value category position within a year of a key launch, and is already profitable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Return Discipline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Management's algorithm: +3-5% revenue, +4-6% profit, +5-8% EPS growth, funded by strong free cash generation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decline in combustible cigarette volumes across developed markets is permanent.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— the entire bull case depends on New Categories growing/staying profitable fast enough to replace that decline before it erodes the dividend. This is the one real swing factor to model carefully.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6,014p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9,427p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6,327p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4.99%      Beta: 0.61      Equity Risk Premium: 5%      Cost of Equity: 8.04%      After-Tax Cost of Debt: 4.65%      Weight E/D: 75.7% / 24.3%      WACC: 7.2%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British American Tobacco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26,906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29,401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123,896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 / 24.3%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permanent decline in combustible volumes; New Categories must outrun it.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~4,497p, recent 2026 trading range 4,468–4,526p (stockanalysis.com / Yahoo Finance)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2.16bn shares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~£31.23bn (cash £3.84bn, debt £35.07bn) — stockanalysis.com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 (CNBC) — used over a separately-reported 0.12 figure as more consistent with typical tobacco-sector betas; both are cited, this is the more plausible 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10-year gilt yield, 4.99% (4 Aug 2026)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revenue £25,610m, -1.0% reported / +2.1% constant currency (BAT preliminary results, Feb 2026)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Adjusted operating margin 44.0% FY2025 (reported margin was 39.04%; adjusted figure used as the cleaner run-rate measure, both disclosed)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Modeled off management's own +3-5% revenue algorithm target, low end given structural combustible decline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