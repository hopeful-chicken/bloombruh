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3852.7</c:v>
                </c:pt>
                <c:pt idx="1">
                  <c:v>6014.23</c:v>
                </c:pt>
                <c:pt idx="2">
                  <c:v>9427.38</c:v>
                </c:pt>
                <c:pt idx="3">
                  <c:v>4497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British American Tobacco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 or AVOID British American Tobacco (LSE: BATS)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 (pence vs £, ADS ratios, reporting-vs-quote currency) — a unit slip makes any target look wildly wrong. (3) Compare your target with the 52-week range;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[e.g. 'A live ESG-exclusion case study: structurally cheap because many funds simply cannot own it']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e.g. the market prices BAT as a melting ice cube: terminal volume decline, regulatory risk, and an ESG-excluded buyer base]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— e.g. the cash flows are real, the £1.3bn buyback compounds per-share value at a depressed multiple, and New Categories are already profitable]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[CLAIM, e.g. 'ESG exclusion creates a structural discount fundamentals alone cannot explain']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[CLAIM, e.g. 'Buyback + dividend at this yield compounds per-share value mechanically']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[CLAIM, e.g. 'New Categories are profitable and growing — optionality priced near zero']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relevant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'ESG exclusion creates a structural discount fu]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'Buyback + dividend at this yield compounds per]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[[CLAIM, e.g. 'New Categories are profitable and growing — op]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— e.g. combustible volume decline accelerates past pricing power, or regulation (menthol bans, plain packaging, US FDA moves) compresses the core faster than New Categories scale]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Tobacco &amp; Nicotine — Combustibles Funding the Smokeless Transition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1 — e.g. pricing power offsetting volume decline, with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 — e.g. nicotine-pouch category growth (ZYN/Velo)]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 — e.g. ESG-driven forced-seller dynamics]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 Morris Intl (NYSE: PM)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Imperial Brands (LSE: IMB)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Tobacco (TYO: 2914)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[Read the Altria OAF short deck against your case — it is the bear version]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diagram — combustibles cash engine → funds dividends/buyback + New Categories investment → smokeless transition]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e.g. brand loyalty + pricing power]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 — e.g. regulatory moat: scale players navigate PMTA/litigation better]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filings;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[CLAIM, e.g. 'ESG exclusion creates a structural discount fundamentals alone cannot explain']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NBIM's exclusion-list entry (primary source, cross-checked as current) + BAT's EV/EBITDA vs global staples over 10 years. Chart: relative multiple vs the staples sector.]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'Buyback + dividend at this yield compounds per-share value mechanically']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£1.3bn 2026 buyback as % of market cap, dividend yield, and payout history. Chart: shares outstanding declining + DPS growing, 10 years. Add the dividend-discount cross-check (yield + guided DPS growth) from the workbook.]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'New Categories are profitable and growing — optionality priced near zero']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one-sentence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combustibles vs New Categories (Vuse/Velo/glo) revenue and profit split from the annual report — the trend in that split is the whole thesis. Chart: New Categories revenue &amp; margin trajectory.]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the strongest bear version — steal it directly from the Altria OAF winning short: aggressive price hikes triggering volume erosion, smokeless lost to competitors, dividend obligations trapping management.]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numbered answers — e.g. 1) BAT's New Categories are already profitable (unlike the Altria case); 2) the buyback is funded and dated; 3) at this multiple, even managed decline compounds per-share value.]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Bear / Base / Bull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current 10-yr UK gilt | beta from stockanalysis.com | ERP 5% | price in pence — divisor 100. IMPORTANT: build the dividend-discount cross-check (yield + guided DPS growth) alongside the DCF — for BAT the yield IS much of the return. [INSERT your values]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results / trading update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buyback completion milestone]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next regulatory decision date — FDA/UK/EU, if known]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1 — e.g. volume decline accelerates] → [mitigant — e.g. decades of pricing-power history + New Categories offset]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2 — e.g. regulation] → [mitigant — scale players historically navigate it better]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risk 3 — e.g. ESG exclusion deepens] → [mitigant — the discount is the entry point; buyback exploits it]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£, ADS ratios, currencies)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 Morris Intl (NYSE: PM)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Imperial Brands (LSE: IMB)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Tobacco (TYO: 2914)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 — Altria?]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British American Tobacco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the exchange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target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scale, furthest along the smokeless transition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Imperial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UK-listed value profile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Tobacco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incumbency, similar yield profile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the Altria short deck as the bear case against all of them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your target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% — annual report]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 — LSE RNS directors' dealings]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capital allocation: buyback consistency, dividend record]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what the remuneration report rewards; the Altria deck attacks comp tied to buyback-fueled EPS — check whether that critique applies to BAT]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in the company's reporting currency (millions) unless noted.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British American Tobacco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