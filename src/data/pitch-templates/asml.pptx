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ASML Holding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NASDAQ/AEX: ASML   ·   Semiconductor Capital Equipment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EUV lithography monopoly, now visibly reshaped by export controls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share of ASML system sales falling from 33% (2025) to ~20% (2026) as the proposed US MATCH Act advances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Backlog That Outlasts a Cycle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€38.8bn backlog at year-end 2025 (incl. €7.4bn EUV bookings) — more than a full year of current revenue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Technological Monopoly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substitute supplier exists for EUV at the leading edge — a genuine monopoly on the hardest step in chip manufacturing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Casualty and Beneficiary of the Chip War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export-control escalation hits the China mix, but every AI-accelerator demand cycle is a tailwind through the other two-thirds of the business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Materials (NASDAQ: AMAT)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 Research (NASDAQ: LRCX)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Corporation (NASDAQ: KLAC)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A Backlog That Outlasts a Cycle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€38.8bn backlog at year-end 2025 (incl. €7.4bn EUV bookings) — more than a full year of current revenue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Genuine Technological Monopoly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substitute supplier exists for EUV at the leading edge — a genuine monopoly on the hardest step in chip manufacturing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export controls are a structural headwind to what was roughly a third of the historical customer base.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True, and the bull case explicitly depends on non-China AI-driven demand growing fast enough to keep absorbing that lost capacity — worth stress-testing directly in the model, not waved away.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Upside/(Downside)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-86.6%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-78.5%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46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to reflect your own view. Full build in the downloadable DCF workbook (this pitch's Research Toolkit).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3.1%      Beta: 1.78      Equity Risk Premium: 5%      Cost of Debt (pre-tax): 3.8%      Tax Rate: 25.8%      WACC: 12%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not a placeholder — pulled from the actual DCF workbook.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ASML Holding DCF workbook (this pitch's Research Toolkit) for the complete 5-year FCF build behind every number above, plus a live Bear/Base/Bull sheet where you can change any assumption and watch the target price recompute. Every hardcoded input there is sourced — see this deck's final Sources slide, or the workbook's own Sources tab.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Export-control escalation reducing addressable market faster than non-China AI demand can offset.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 and in the downloadable workbook; re-run it with your own view on growth, margin, or WACC before you present it as yours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 — where it came from, compiled August 2026. A dated snapshot, not a live feed: verify against a live quote before you present this.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$1,695.38 (Nasdaq, Aug 2026) — converted to EUR at ~1.08 USD/EUR for modeling 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~386.8m (stockanalysis.com/companiesmarketcap, two sources within 1% of each other: 388.15m and 385.4m)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€5.36bn (cash €7.63bn, debt €2.27bn) — ASML Q2 2026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10-year Bund yield used as EUR risk-free proxy, 3.10% (5 Aug 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total net sales €32.7bn, net income €9.6bn (ASML FY2025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~35.5% (Q1 2026 operating margin 36%, FY2025 gross margin 52.8%)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anchored to raised FY2026 guidance of €36-40bn (+~13-22% off €32.7bn base, using ~16% as the guidance midpoint growth rate), tapering as the China-export headwind persists but AI/leading-edge demand offsets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2026-08-06T04:01:12Z</dcterms:created>
  <dcterms:modified xsi:type="dcterms:W3CDTF">2026-08-06T04:01:12Z</dcterms:modified>
</cp:coreProperties>
</file>