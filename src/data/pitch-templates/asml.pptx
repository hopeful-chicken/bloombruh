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227.97</c:v>
                </c:pt>
                <c:pt idx="1">
                  <c:v>354.22</c:v>
                </c:pt>
                <c:pt idx="2">
                  <c:v>523.36</c:v>
                </c:pt>
                <c:pt idx="3">
                  <c:v>1695.38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ASML Holding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</a:t>
            </a:r>
            <a:pPr indent="0" marL="0">
              <a:buNone/>
            </a:pPr>
            <a:r>
              <a:rPr lang="en-US" sz="24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ASML Holding (NASDAQ/AEX: ASML)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$1,695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$365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(-78.5%)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is this pitch's own real DCF workbook (probability-weighted Bear/Base/Bull) — re-run it with your own assumptions before you present it as your view, not Bloombruh's.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EUV lithography monopoly, now visibly reshaped by export controls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share of ASML system sales falling from 33% (2025) to ~20% (2026) as the proposed US MATCH Act advances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Backlog That Outlasts a Cycle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€38.8bn backlog at year-end 2025 (incl. €7.4bn EUV bookings) — more than a full year of current revenue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Technological Monopoly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substitute supplier exists for EUV at the leading edge — a genuine monopoly on the hardest step in chip manufacturing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Casualty and Beneficiary of the Chip War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export-control escalation hits the China mix, but every AI-accelerator demand cycle is a tailwind through the other two-thirds of the business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chart, like the reference decks do]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Backlog That Outlasts a Cycle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Technological Monopoly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Casualty and Beneficiary of the Chip War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Export-control escalation reducing addressable market faster than non-China AI demand can offset.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Capital Equipment — Where ASML Holding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1 — cite your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industry-size or market-growth chart, with a CAGR annotation — see the reference decks' style]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Materials (NASDAQ: AMAT)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 Research (NASDAQ: LRCX)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Corporation (NASDAQ: KLAC)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 simple business-model diagram — who pays whom, for what. Keep it to 4-5 boxes and arrows, like the reference decks' merchant/network diagrams]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1 — what stops a competitor copying this?]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Backlog That Outlasts a Cycle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€38.8bn backlog at year-end 2025 (incl. €7.4bn EUV bookings) — more than a full year of current revenue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Genuine Technological Monopoly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substitute supplier exists for EUV at the leading edge — a genuine monopoly on the hardest step in chip manufacturing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export controls are a structural headwind to what was roughly a third of the historical customer base.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True, and the bull case explicitly depends on non-China AI-driven demand growing fast enough to keep absorbing that lost capacity — worth stress-testing directly in the model, not waved away.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-86.6%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-79.1%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-78.5%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7452360" y="1280160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on the DCF workbook's Scenarios tab.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3.1%      Beta: 1.78      Equity Risk Premium: 5%      Cost of Equity: 12%      After-Tax Cost of Debt: 2.82%      Weight E/D: 100% / 0%      WACC: 12%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pulled from the actual DCF workbook — not a placeholder.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ASML Holding DCF workbook (this pitch's Research Toolkit) for the complete 5-year FCF build behind every number above, on a live Bear/Base/Bull sheet where changing any assumption recomputes the target price. Every hardcoded input there is sourced — see this deck's final Sources slide, or the workbook's own Sources tab.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Base Case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57,537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21,864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EUR millions unless noted; modeled in EUR (ASML's own reporting currency), converted to USD for the implied-price comparison to the Nasdaq quote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36,980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84,524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607,197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/ 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Base-case build as the downloadable DCF workbook — the workbook additionally has the full Bear/Base/Bull re-derivation, live formulas, and a Sources tab. Every hardcoded input here is real and sourced; see the final Sources slide.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near-term dated event 1 — e.g. next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Export-control escalation reducing addressable market faster than non-China AI demand can offset.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[INSERT]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slides and in the downloadable workbook; re-run it with your own view before you present it as yours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slides — where it came from, compiled August 2026. A dated snapshot, not a live feed: verify against a live quote before you present this.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$1,695.38 (Nasdaq, Aug 2026) — converted to EUR at ~1.08 USD/EUR for modeling consistency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~386.8m (stockanalysis.com/companiesmarketcap, two sources within 1% of each other: 388.15m and 385.4m)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€5.36bn (cash €7.63bn, debt €2.27bn) — ASML Q2 2026 results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10-year Bund yield used as EUR risk-free proxy, 3.10% (5 Aug 2026)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total net sales €32.7bn, net income €9.6bn (ASML FY2025 results)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~35.5% (Q1 2026 operating margin 36%, FY2025 gross margin 52.8%)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anchored to raised FY2026 guidance of €36-40bn (+~13-22% off €32.7bn base, using ~16% as the guidance midpoint growth rate), tapering as the China-export headwind persists but AI/leading-edge demand offsets 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