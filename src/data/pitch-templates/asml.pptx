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BC5B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ASML Holding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NASDAQ/AEX: ASML   ·   Semiconductor Capital Equipment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EUV lithography monopoly, now visibly reshaped by export controls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486400"/>
            <a:ext cx="11064240" cy="0"/>
          </a:xfrm>
          <a:prstGeom prst="line">
            <a:avLst/>
          </a:prstGeom>
          <a:noFill/>
          <a:ln w="12700">
            <a:solidFill>
              <a:srgbClr val="3C38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____________     Target Price: ____________     Upside/Downside: ____________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Pitch Deck Template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10515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887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China's share of ASML system sales falling from 33% (2025) to ~20% (2026) as the proposed US MATCH Act advances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see upside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Backlog That Outlasts a Cycle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€38.8bn backlog at year-end 2025 (incl. €7.4bn EUV bookings) — more than a full year of current revenue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70248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3128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53128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Technological Monopoly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3128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substitute supplier exists for EUV at the leading edge — a genuine monopoly on the hardest step in chip manufacturing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3296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66176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Simultaneous Casualty and Beneficiary of the Chip War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66176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export-control escalation hits the China mix, but every AI-accelerator demand cycle is a tailwind through the other two-thirds of the business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983480"/>
            <a:ext cx="11247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98348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&amp; Business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 size/growth chart — cite your source directly on the slide]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72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revenue mix / business model diagram — where does the money actually come from?]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comparables to know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Materials (NASDAQ: AMAT)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 Research (NASDAQ: LRCX)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 Corporation (NASDAQ: KLAC)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1 — A Backlog That Outlasts a Cycle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€38.8bn backlog at year-end 2025 (incl. €7.4bn EUV bookings) — more than a full year of current revenue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2 — Genuine Technological Monopoly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substitute supplier exists for EUV at the leading edge — a genuine monopoly on the hardest step in chip manufacturing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Street Is Bearish — Here's the Honest Response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Escalating export controls are a structural headwind to what was roughly a third of the historical customer base.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54864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46520" y="178308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True, and the bull case explicitly depends on non-China AI-driven demand growing fast enough to keep absorbing that lost capacity — worth stress-testing directly in the model, not waved away.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— DCF &amp; Scenario Analysis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201168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Price: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inputs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[?]      Beta: [?]      Equity Risk Premium: [?]      Cost of Debt (pre-tax): [?]      Tax Rate: [?]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4526280"/>
            <a:ext cx="11247120" cy="1554480"/>
          </a:xfrm>
          <a:prstGeom prst="rect">
            <a:avLst/>
          </a:prstGeom>
          <a:solidFill>
            <a:srgbClr val="BC5B33">
              <a:alpha val="8000"/>
            </a:srgbClr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466344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this in Excel — don't guess at a DCF freehand.
</a:t>
            </a:r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DCF and Trading Comps templates at bloombruh.com/templates — pick "ASML Holding" or the closest available sector match. Every cell is a live formula prefilled with real data; you only need to adjust the assumptions above.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Catalysts, Risks &amp; Appendix Checklist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timeline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5257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2-3 near-term dated events that would confirm or break this thesis — e.g. next earnings date, a specific regulatory decision, a contract renewal]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45920"/>
            <a:ext cx="5166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Export-control escalation reducing addressable market faster than non-China AI demand can offset.
</a:t>
            </a:r>
            <a:pPr indent="0" marL="0">
              <a:buNone/>
            </a:pPr>
            <a:r>
              <a:rPr lang="en-US" sz="11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[?]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checklist — what a complete pack needs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DCF output + sensitivity table (price target vs. WACC and terminal growth/exit multiple)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ASML Holding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2026-08-05T15:29:37Z</dcterms:created>
  <dcterms:modified xsi:type="dcterms:W3CDTF">2026-08-05T15:29:37Z</dcterms:modified>
</cp:coreProperties>
</file>