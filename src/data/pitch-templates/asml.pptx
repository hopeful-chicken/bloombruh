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4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6" r:id="rId17"/>
    <p:sldId id="259" r:id="rId5"/>
    <p:sldId id="260" r:id="rId6"/>
    <p:sldId id="267" r:id="rId18"/>
    <p:sldId id="261" r:id="rId7"/>
    <p:sldId id="262" r:id="rId8"/>
    <p:sldId id="264" r:id="rId10"/>
    <p:sldId id="268" r:id="rId19"/>
    <p:sldId id="269" r:id="rId20"/>
    <p:sldId id="263" r:id="rId9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5.xml"/><Relationship Id="rId6" Type="http://schemas.openxmlformats.org/officeDocument/2006/relationships/slide" Target="slides/slide6.xml"/><Relationship Id="rId7" Type="http://schemas.openxmlformats.org/officeDocument/2006/relationships/slide" Target="slides/slide8.xml"/><Relationship Id="rId8" Type="http://schemas.openxmlformats.org/officeDocument/2006/relationships/slide" Target="slides/slide9.xml"/><Relationship Id="rId9" Type="http://schemas.openxmlformats.org/officeDocument/2006/relationships/slide" Target="slides/slide13.xml"/><Relationship Id="rId10" Type="http://schemas.openxmlformats.org/officeDocument/2006/relationships/slide" Target="slides/slide10.xml"/><Relationship Id="rId11" Type="http://schemas.openxmlformats.org/officeDocument/2006/relationships/slide" Target="slides/slide14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slide" Target="slides/slide4.xml"/><Relationship Id="rId18" Type="http://schemas.openxmlformats.org/officeDocument/2006/relationships/slide" Target="slides/slide7.xml"/><Relationship Id="rId19" Type="http://schemas.openxmlformats.org/officeDocument/2006/relationships/slide" Target="slides/slide11.xml"/><Relationship Id="rId20" Type="http://schemas.openxmlformats.org/officeDocument/2006/relationships/slide" Target="slides/slide12.xml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000" b="0" i="0" u="none" strike="noStrike">
                <a:solidFill>
                  <a:srgbClr val="000000"/>
                </a:solidFill>
                <a:latin typeface="Arial"/>
              </a:rPr>
              <a:t>Implied Price ($)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Price</c:v>
                </c:pt>
              </c:strCache>
            </c:strRef>
          </c:tx>
          <c:spPr>
            <a:solidFill>
              <a:srgbClr val="C0392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C0392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6F6B60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3E7D57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26241F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Bear</c:v>
                  </c:pt>
                  <c:pt idx="1">
                    <c:v>Base</c:v>
                  </c:pt>
                  <c:pt idx="2">
                    <c:v>Bull</c:v>
                  </c:pt>
                  <c:pt idx="3">
                    <c:v>Current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227.97</c:v>
                </c:pt>
                <c:pt idx="1">
                  <c:v>354.22</c:v>
                </c:pt>
                <c:pt idx="2">
                  <c:v>523.36</c:v>
                </c:pt>
                <c:pt idx="3">
                  <c:v>1695.38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3E0D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chart" Target="..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i="1" dirty="0">
                <a:solidFill>
                  <a:srgbClr val="2624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Bloom</a:t>
            </a:r>
            <a:pPr indent="0" marL="0">
              <a:buNone/>
            </a:pPr>
            <a:r>
              <a:rPr lang="en-US" sz="2600" b="1" i="1" dirty="0">
                <a:solidFill>
                  <a:srgbClr val="BC5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bruh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F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PITCH DECK TEMPLATE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624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ASML Holding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548640" y="2395728"/>
            <a:ext cx="7315200" cy="0"/>
          </a:xfrm>
          <a:prstGeom prst="line">
            <a:avLst/>
          </a:prstGeom>
          <a:noFill/>
          <a:ln w="25400">
            <a:solidFill>
              <a:srgbClr val="BC5B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56032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E7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[LONG / AVOID ASML (NASDAQ/AEX: ASML)</a:t>
            </a:r>
            <a:pPr indent="0" marL="0">
              <a:buNone/>
            </a:pP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48640" y="320040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26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Price: [INSERT price + date pulled]    |    Target Price: [INSERT yours] ([INSERT % upside/downside])</a:t>
            </a:r>
            <a:pPr indent="0" marL="0">
              <a:lnSpc>
                <a:spcPct val="130000"/>
              </a:lnSpc>
              <a:buNone/>
            </a:pPr>
            <a:pPr indent="0" marL="0">
              <a:lnSpc>
                <a:spcPct val="130000"/>
              </a:lnSpc>
              <a:buNone/>
            </a:pPr>
            <a:pPr indent="0" marL="0">
              <a:lnSpc>
                <a:spcPct val="130000"/>
              </a:lnSpc>
              <a:buNone/>
            </a:pPr>
            <a:pPr indent="0" marL="0">
              <a:lnSpc>
                <a:spcPct val="130000"/>
              </a:lnSpc>
              <a:buNone/>
            </a:pP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397764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F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Sanity rules before you present: (1) a LONG target must sit ABOVE today's price — if your DCF lands below it, the honest pitch is AVOID or SHORT (a short won OAF — see the Altria reference deck).</a:t>
            </a:r>
            <a:endParaRPr lang="en-US" sz="1000" dirty="0"/>
          </a:p>
          <a:p>
            <a:pPr indent="0" marL="0">
              <a:buNone/>
            </a:pPr>
            <a:r>
              <a:rPr lang="en-US" sz="1000" i="1" dirty="0">
                <a:solidFill>
                  <a:srgbClr val="6F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(2) Check units (pence vs £, ADS ratios, reporting-vs-quote currency) — a unit slip makes any target look wildly wrong. (3) Compare your target with the 52-week range; outside it needs a very good reason.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48640" y="5074920"/>
            <a:ext cx="11064240" cy="0"/>
          </a:xfrm>
          <a:prstGeom prst="line">
            <a:avLst/>
          </a:prstGeom>
          <a:noFill/>
          <a:ln w="12700">
            <a:solidFill>
              <a:srgbClr val="E3E0D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52578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F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Bloombruh Research Toolkit — modeled on real Varsity Pitch Competition / OAF-style decks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57150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6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by: ____________________          Date: ____________________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" y="6172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F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your pitch to present as your own — fill in your name above.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BC5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PITCH SUMMARY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624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[e.g. 'The EUV monopoly, repriced around export controls — the question is how much China loss is already in the price']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378440" y="3200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i="1" dirty="0">
                <a:solidFill>
                  <a:srgbClr val="2624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Bloom</a:t>
            </a:r>
            <a:pPr algn="r" indent="0" marL="0">
              <a:buNone/>
            </a:pPr>
            <a:r>
              <a:rPr lang="en-US" sz="1800" b="1" i="1" dirty="0">
                <a:solidFill>
                  <a:srgbClr val="BC5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bruh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1115568"/>
            <a:ext cx="11247120" cy="0"/>
          </a:xfrm>
          <a:prstGeom prst="line">
            <a:avLst/>
          </a:prstGeom>
          <a:noFill/>
          <a:ln w="25400">
            <a:solidFill>
              <a:srgbClr val="BC5B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280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6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NARRATIVE SUMMARY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572768"/>
            <a:ext cx="5486400" cy="0"/>
          </a:xfrm>
          <a:prstGeom prst="line">
            <a:avLst/>
          </a:prstGeom>
          <a:noFill/>
          <a:ln w="12700">
            <a:solidFill>
              <a:srgbClr val="E3E0D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691640"/>
            <a:ext cx="5486400" cy="777240"/>
          </a:xfrm>
          <a:prstGeom prst="rect">
            <a:avLst/>
          </a:prstGeom>
          <a:solidFill>
            <a:srgbClr val="F7E9E1"/>
          </a:solidFill>
          <a:ln w="12700">
            <a:solidFill>
              <a:srgbClr val="BC5B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737360"/>
            <a:ext cx="5212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994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Consensus thinks: [INSERT — e.g. the market treats China (was 33% of revenue) as permanently impaired and fears the MATCH Act removing the rest]</a:t>
            </a:r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994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think: [INSERT your one-line disagreement — e.g. the €38.8bn backlog and the AI capex supercycle replace lost China revenue faster than the price implies — or the reverse if your numbers say so]</a:t>
            </a:r>
            <a:pPr indent="0" marL="0">
              <a:buNone/>
            </a:pP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2606040"/>
            <a:ext cx="502920" cy="292608"/>
          </a:xfrm>
          <a:prstGeom prst="chevron">
            <a:avLst/>
          </a:prstGeom>
          <a:solidFill>
            <a:srgbClr val="BC5B33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2606040"/>
            <a:ext cx="384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2935224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BC5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Thesis 1 — [CLAIM, e.g. 'A literal monopoly: no EUV, no advanced chips — and the installed base pays forever']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57200" y="3227832"/>
            <a:ext cx="5394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6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[INSERT: one-sentence argument]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3904488"/>
            <a:ext cx="502920" cy="292608"/>
          </a:xfrm>
          <a:prstGeom prst="chevron">
            <a:avLst/>
          </a:prstGeom>
          <a:solidFill>
            <a:srgbClr val="BC5B33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3904488"/>
            <a:ext cx="384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4233672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BC5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Thesis 2 — [CLAIM, e.g. 'Export controls are quantifiable — and partly priced in']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57200" y="4526280"/>
            <a:ext cx="5394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6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[INSERT: one-sentence argument]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5202936"/>
            <a:ext cx="502920" cy="292608"/>
          </a:xfrm>
          <a:prstGeom prst="chevron">
            <a:avLst/>
          </a:prstGeom>
          <a:solidFill>
            <a:srgbClr val="BC5B33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5202936"/>
            <a:ext cx="384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553212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BC5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Thesis 3 — [CLAIM, e.g. 'The AI capex supercycle pulls EUV/High-NA demand regardless of China']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57200" y="5824728"/>
            <a:ext cx="5394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6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[INSERT: one-sentence argument]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217920" y="1280160"/>
            <a:ext cx="5486400" cy="2103120"/>
          </a:xfrm>
          <a:prstGeom prst="rect">
            <a:avLst/>
          </a:prstGeom>
          <a:solidFill>
            <a:srgbClr val="FCFBF8"/>
          </a:solidFill>
          <a:ln w="12700">
            <a:solidFill>
              <a:srgbClr val="E3E0D3"/>
            </a:solidFill>
            <a:prstDash val="dash"/>
          </a:ln>
        </p:spPr>
      </p:sp>
      <p:sp>
        <p:nvSpPr>
          <p:cNvPr id="23" name="Text 21"/>
          <p:cNvSpPr/>
          <p:nvPr/>
        </p:nvSpPr>
        <p:spPr>
          <a:xfrm>
            <a:off x="6355080" y="1280160"/>
            <a:ext cx="52120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6F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[INSERT: 12-month share-price chart vs a relevant index, with the trigger event annotated. Every winning deck opens with this.]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217920" y="3520440"/>
            <a:ext cx="2651760" cy="329184"/>
          </a:xfrm>
          <a:prstGeom prst="rect">
            <a:avLst/>
          </a:prstGeom>
          <a:solidFill>
            <a:srgbClr val="3E7D57"/>
          </a:solidFill>
          <a:ln/>
        </p:spPr>
      </p:sp>
      <p:sp>
        <p:nvSpPr>
          <p:cNvPr id="25" name="Text 23"/>
          <p:cNvSpPr/>
          <p:nvPr/>
        </p:nvSpPr>
        <p:spPr>
          <a:xfrm>
            <a:off x="6291072" y="3520440"/>
            <a:ext cx="2505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WE SEE UPSIDE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217920" y="3849624"/>
            <a:ext cx="2651760" cy="2551176"/>
          </a:xfrm>
          <a:prstGeom prst="rect">
            <a:avLst/>
          </a:prstGeom>
          <a:solidFill>
            <a:srgbClr val="FFFFFF"/>
          </a:solidFill>
          <a:ln w="12700">
            <a:solidFill>
              <a:srgbClr val="3E7D5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27648" y="3904488"/>
            <a:ext cx="2432304" cy="2441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–"/>
            </a:pPr>
            <a:r>
              <a:rPr lang="en-US" sz="1000" dirty="0">
                <a:solidFill>
                  <a:srgbClr val="26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[[CLAIM, e.g. 'A literal monopoly: no EUV, no advanced chips ]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–"/>
            </a:pPr>
            <a:r>
              <a:rPr lang="en-US" sz="1000" dirty="0">
                <a:solidFill>
                  <a:srgbClr val="26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[[CLAIM, e.g. 'Export controls are quantifiable — and partly ]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–"/>
            </a:pPr>
            <a:r>
              <a:rPr lang="en-US" sz="1000" dirty="0">
                <a:solidFill>
                  <a:srgbClr val="26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[[CLAIM, e.g. 'The AI capex supercycle pulls EUV/High-NA dema]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9052560" y="3520440"/>
            <a:ext cx="2651760" cy="329184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9" name="Text 27"/>
          <p:cNvSpPr/>
          <p:nvPr/>
        </p:nvSpPr>
        <p:spPr>
          <a:xfrm>
            <a:off x="9125712" y="3520440"/>
            <a:ext cx="2505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RISK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9052560" y="3849624"/>
            <a:ext cx="2651760" cy="2551176"/>
          </a:xfrm>
          <a:prstGeom prst="rect">
            <a:avLst/>
          </a:prstGeom>
          <a:solidFill>
            <a:srgbClr val="FFFFFF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162288" y="3904488"/>
            <a:ext cx="2432304" cy="2441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–"/>
            </a:pPr>
            <a:r>
              <a:rPr lang="en-US" sz="950" dirty="0">
                <a:solidFill>
                  <a:srgbClr val="26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 — e.g. the MATCH Act (or successor rules) cuts China to zero and the digestion cycle hits orders before AI demand fills the gap]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57200" y="65379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F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Bloombruh Research Toolkit — ASML Holding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F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BC5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&amp; BUSINESS OVERVIEW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624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Semiconductor Capital Equipment — The Lithography Monopoly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378440" y="3200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i="1" dirty="0">
                <a:solidFill>
                  <a:srgbClr val="2624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Bloom</a:t>
            </a:r>
            <a:pPr algn="r" indent="0" marL="0">
              <a:buNone/>
            </a:pPr>
            <a:r>
              <a:rPr lang="en-US" sz="1800" b="1" i="1" dirty="0">
                <a:solidFill>
                  <a:srgbClr val="BC5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bruh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1115568"/>
            <a:ext cx="11247120" cy="0"/>
          </a:xfrm>
          <a:prstGeom prst="line">
            <a:avLst/>
          </a:prstGeom>
          <a:noFill/>
          <a:ln w="25400">
            <a:solidFill>
              <a:srgbClr val="BC5B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280160"/>
            <a:ext cx="3566160" cy="329184"/>
          </a:xfrm>
          <a:prstGeom prst="rect">
            <a:avLst/>
          </a:prstGeom>
          <a:solidFill>
            <a:srgbClr val="BC5B33"/>
          </a:solidFill>
          <a:ln/>
        </p:spPr>
      </p:sp>
      <p:sp>
        <p:nvSpPr>
          <p:cNvPr id="7" name="Text 5"/>
          <p:cNvSpPr/>
          <p:nvPr/>
        </p:nvSpPr>
        <p:spPr>
          <a:xfrm>
            <a:off x="530352" y="1280160"/>
            <a:ext cx="34198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INDUSTRY DRIVERS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609344"/>
            <a:ext cx="3566160" cy="2048256"/>
          </a:xfrm>
          <a:prstGeom prst="rect">
            <a:avLst/>
          </a:prstGeom>
          <a:solidFill>
            <a:srgbClr val="FFFFFF"/>
          </a:solidFill>
          <a:ln w="12700">
            <a:solidFill>
              <a:srgbClr val="BC5B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1664208"/>
            <a:ext cx="3346704" cy="1938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–"/>
            </a:pPr>
            <a:r>
              <a:rPr lang="en-US" sz="1050" dirty="0">
                <a:solidFill>
                  <a:srgbClr val="26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[INSERT: driver 1 — e.g. AI-driven leading-edge capacity additions, with source]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–"/>
            </a:pPr>
            <a:r>
              <a:rPr lang="en-US" sz="1050" dirty="0">
                <a:solidFill>
                  <a:srgbClr val="26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[INSERT: driver 2 — e.g. High-NA EUV transition pricing]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–"/>
            </a:pPr>
            <a:r>
              <a:rPr lang="en-US" sz="1050" dirty="0">
                <a:solidFill>
                  <a:srgbClr val="26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[INSERT: driver 3 — e.g. export-control rule trajectory (BIS)]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160520" y="1280160"/>
            <a:ext cx="3794760" cy="2377440"/>
          </a:xfrm>
          <a:prstGeom prst="rect">
            <a:avLst/>
          </a:prstGeom>
          <a:solidFill>
            <a:srgbClr val="FCFBF8"/>
          </a:solidFill>
          <a:ln w="12700">
            <a:solidFill>
              <a:srgbClr val="E3E0D3"/>
            </a:solidFill>
            <a:prstDash val="dash"/>
          </a:ln>
        </p:spPr>
      </p:sp>
      <p:sp>
        <p:nvSpPr>
          <p:cNvPr id="11" name="Text 9"/>
          <p:cNvSpPr/>
          <p:nvPr/>
        </p:nvSpPr>
        <p:spPr>
          <a:xfrm>
            <a:off x="4297680" y="1280160"/>
            <a:ext cx="3520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6F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[INSERT: market-size or growth chart with a CAGR annotation. This chart is the first thing judges look at on this slide.]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092440" y="1280160"/>
            <a:ext cx="3611880" cy="329184"/>
          </a:xfrm>
          <a:prstGeom prst="rect">
            <a:avLst/>
          </a:prstGeom>
          <a:solidFill>
            <a:srgbClr val="BC5B33"/>
          </a:solidFill>
          <a:ln/>
        </p:spPr>
      </p:sp>
      <p:sp>
        <p:nvSpPr>
          <p:cNvPr id="13" name="Text 11"/>
          <p:cNvSpPr/>
          <p:nvPr/>
        </p:nvSpPr>
        <p:spPr>
          <a:xfrm>
            <a:off x="8165592" y="1280160"/>
            <a:ext cx="34655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COMPARABLE COMPANIES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092440" y="1609344"/>
            <a:ext cx="3611880" cy="2048256"/>
          </a:xfrm>
          <a:prstGeom prst="rect">
            <a:avLst/>
          </a:prstGeom>
          <a:solidFill>
            <a:srgbClr val="FFFFFF"/>
          </a:solidFill>
          <a:ln w="12700">
            <a:solidFill>
              <a:srgbClr val="BC5B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02168" y="1664208"/>
            <a:ext cx="3392424" cy="1938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–"/>
            </a:pPr>
            <a:r>
              <a:rPr lang="en-US" sz="1050" dirty="0">
                <a:solidFill>
                  <a:srgbClr val="26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Materials (NASDAQ: AMAT)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–"/>
            </a:pPr>
            <a:r>
              <a:rPr lang="en-US" sz="1050" dirty="0">
                <a:solidFill>
                  <a:srgbClr val="26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 Research (NASDAQ: LRCX)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–"/>
            </a:pPr>
            <a:r>
              <a:rPr lang="en-US" sz="1050" dirty="0">
                <a:solidFill>
                  <a:srgbClr val="26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 Corp (NASDAQ: KLAC)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–"/>
            </a:pPr>
            <a:r>
              <a:rPr lang="en-US" sz="1050" dirty="0">
                <a:solidFill>
                  <a:srgbClr val="26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[Note: none has the EUV monopoly — decide if the premium is justified]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57200" y="3794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6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4087368"/>
            <a:ext cx="11247120" cy="0"/>
          </a:xfrm>
          <a:prstGeom prst="line">
            <a:avLst/>
          </a:prstGeom>
          <a:noFill/>
          <a:ln w="12700">
            <a:solidFill>
              <a:srgbClr val="E3E0D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4206240"/>
            <a:ext cx="5486400" cy="2194560"/>
          </a:xfrm>
          <a:prstGeom prst="rect">
            <a:avLst/>
          </a:prstGeom>
          <a:solidFill>
            <a:srgbClr val="FCFBF8"/>
          </a:solidFill>
          <a:ln w="12700">
            <a:solidFill>
              <a:srgbClr val="E3E0D3"/>
            </a:solidFill>
            <a:prstDash val="dash"/>
          </a:ln>
        </p:spPr>
      </p:sp>
      <p:sp>
        <p:nvSpPr>
          <p:cNvPr id="19" name="Text 17"/>
          <p:cNvSpPr/>
          <p:nvPr/>
        </p:nvSpPr>
        <p:spPr>
          <a:xfrm>
            <a:off x="594360" y="4206240"/>
            <a:ext cx="52120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6F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[INSERT: 4-5 box diagram — chipmakers' capex → EUV/DUV system sales + installed-base service → ASML's monopoly toll on every advanced wafer]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217920" y="4206240"/>
            <a:ext cx="5486400" cy="329184"/>
          </a:xfrm>
          <a:prstGeom prst="rect">
            <a:avLst/>
          </a:prstGeom>
          <a:solidFill>
            <a:srgbClr val="BC5B33"/>
          </a:solidFill>
          <a:ln/>
        </p:spPr>
      </p:sp>
      <p:sp>
        <p:nvSpPr>
          <p:cNvPr id="21" name="Text 19"/>
          <p:cNvSpPr/>
          <p:nvPr/>
        </p:nvSpPr>
        <p:spPr>
          <a:xfrm>
            <a:off x="6291072" y="4206240"/>
            <a:ext cx="53400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COMPETITIVE ADVANTAGES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217920" y="4535424"/>
            <a:ext cx="5486400" cy="1865376"/>
          </a:xfrm>
          <a:prstGeom prst="rect">
            <a:avLst/>
          </a:prstGeom>
          <a:solidFill>
            <a:srgbClr val="FFFFFF"/>
          </a:solidFill>
          <a:ln w="12700">
            <a:solidFill>
              <a:srgbClr val="BC5B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27648" y="4590288"/>
            <a:ext cx="5266944" cy="1755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–"/>
            </a:pPr>
            <a:r>
              <a:rPr lang="en-US" sz="1050" dirty="0">
                <a:solidFill>
                  <a:srgbClr val="26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[INSERT: moat 1 — e.g. decades of optics R&amp;D no rival can replicate on any visible horizon]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–"/>
            </a:pPr>
            <a:r>
              <a:rPr lang="en-US" sz="1050" dirty="0">
                <a:solidFill>
                  <a:srgbClr val="26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[INSERT: moat 2 — installed-base service lock-in]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–"/>
            </a:pPr>
            <a:r>
              <a:rPr lang="en-US" sz="1050" dirty="0">
                <a:solidFill>
                  <a:srgbClr val="26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[INSERT: moat 3]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57200" y="65379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F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Bloombruh Research Toolkit — ASML Holding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F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BC5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EXPECTATIONS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624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Current Share Price Already Assumes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378440" y="3200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i="1" dirty="0">
                <a:solidFill>
                  <a:srgbClr val="2624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Bloom</a:t>
            </a:r>
            <a:pPr algn="r" indent="0" marL="0">
              <a:buNone/>
            </a:pPr>
            <a:r>
              <a:rPr lang="en-US" sz="1800" b="1" i="1" dirty="0">
                <a:solidFill>
                  <a:srgbClr val="BC5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bruh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1115568"/>
            <a:ext cx="11247120" cy="0"/>
          </a:xfrm>
          <a:prstGeom prst="line">
            <a:avLst/>
          </a:prstGeom>
          <a:noFill/>
          <a:ln w="25400">
            <a:solidFill>
              <a:srgbClr val="BC5B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280160"/>
            <a:ext cx="11247120" cy="685800"/>
          </a:xfrm>
          <a:prstGeom prst="rect">
            <a:avLst/>
          </a:prstGeom>
          <a:solidFill>
            <a:srgbClr val="F7E9E1"/>
          </a:solidFill>
          <a:ln w="12700">
            <a:solidFill>
              <a:srgbClr val="BC5B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28016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6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your theses, show what the market already prices in — your pitch lives in the gap between that and your own forecast.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6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Method: the workbook's Reverse DCF tab (Excel Goal Seek) solves for the growth the current price implies.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148840"/>
            <a:ext cx="11247120" cy="3200400"/>
          </a:xfrm>
          <a:prstGeom prst="rect">
            <a:avLst/>
          </a:prstGeom>
          <a:solidFill>
            <a:srgbClr val="FCFBF8"/>
          </a:solidFill>
          <a:ln w="12700">
            <a:solidFill>
              <a:srgbClr val="E3E0D3"/>
            </a:solidFill>
            <a:prstDash val="dash"/>
          </a:ln>
        </p:spPr>
      </p:sp>
      <p:sp>
        <p:nvSpPr>
          <p:cNvPr id="9" name="Text 7"/>
          <p:cNvSpPr/>
          <p:nvPr/>
        </p:nvSpPr>
        <p:spPr>
          <a:xfrm>
            <a:off x="594360" y="2148840"/>
            <a:ext cx="109728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6F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[INSERT: reverse-DCF table — columns: Metric | Historical | Implied by current price | Your forecast | Gap.</a:t>
            </a:r>
            <a:endParaRPr lang="en-US" sz="1050" dirty="0"/>
          </a:p>
          <a:p>
            <a:pPr algn="l" indent="0" marL="0">
              <a:buNone/>
            </a:pPr>
            <a:r>
              <a:rPr lang="en-US" sz="1050" i="1" dirty="0">
                <a:solidFill>
                  <a:srgbClr val="6F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Rows: revenue CAGR, operating margin, EPS growth. Historicals from the latest filings; 'implied' from the workbook's Reverse tab; 'your forecast' from your DCF.</a:t>
            </a:r>
            <a:endParaRPr lang="en-US" sz="1050" dirty="0"/>
          </a:p>
          <a:p>
            <a:pPr algn="l" indent="0" marL="0">
              <a:buNone/>
            </a:pPr>
            <a:r>
              <a:rPr lang="en-US" sz="1050" i="1" dirty="0">
                <a:solidFill>
                  <a:srgbClr val="6F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single biggest differentiator in the winning decks.]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57200" y="54864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F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NOTES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5806440"/>
            <a:ext cx="11247120" cy="0"/>
          </a:xfrm>
          <a:prstGeom prst="line">
            <a:avLst/>
          </a:prstGeom>
          <a:noFill/>
          <a:ln w="12700">
            <a:solidFill>
              <a:srgbClr val="E3E0D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6126480"/>
            <a:ext cx="11247120" cy="0"/>
          </a:xfrm>
          <a:prstGeom prst="line">
            <a:avLst/>
          </a:prstGeom>
          <a:noFill/>
          <a:ln w="12700">
            <a:solidFill>
              <a:srgbClr val="E3E0D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65379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F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Bloombruh Research Toolkit — ASML Holding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F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BC5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 THESIS 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624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Thesis 1 — [CLAIM, e.g. 'A literal monopoly: no EUV, no advanced chips — and the installed base pays forever']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378440" y="3200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i="1" dirty="0">
                <a:solidFill>
                  <a:srgbClr val="2624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Bloom</a:t>
            </a:r>
            <a:pPr algn="r" indent="0" marL="0">
              <a:buNone/>
            </a:pPr>
            <a:r>
              <a:rPr lang="en-US" sz="1800" b="1" i="1" dirty="0">
                <a:solidFill>
                  <a:srgbClr val="BC5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bruh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1115568"/>
            <a:ext cx="11247120" cy="0"/>
          </a:xfrm>
          <a:prstGeom prst="line">
            <a:avLst/>
          </a:prstGeom>
          <a:noFill/>
          <a:ln w="25400">
            <a:solidFill>
              <a:srgbClr val="BC5B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280160"/>
            <a:ext cx="11247120" cy="685800"/>
          </a:xfrm>
          <a:prstGeom prst="rect">
            <a:avLst/>
          </a:prstGeom>
          <a:solidFill>
            <a:srgbClr val="F7E9E1"/>
          </a:solidFill>
          <a:ln w="12700">
            <a:solidFill>
              <a:srgbClr val="BC5B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28016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6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[INSERT: one-sentence argument]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148840"/>
            <a:ext cx="11247120" cy="3200400"/>
          </a:xfrm>
          <a:prstGeom prst="rect">
            <a:avLst/>
          </a:prstGeom>
          <a:solidFill>
            <a:srgbClr val="FCFBF8"/>
          </a:solidFill>
          <a:ln w="12700">
            <a:solidFill>
              <a:srgbClr val="E3E0D3"/>
            </a:solidFill>
            <a:prstDash val="dash"/>
          </a:ln>
        </p:spPr>
      </p:sp>
      <p:sp>
        <p:nvSpPr>
          <p:cNvPr id="9" name="Text 7"/>
          <p:cNvSpPr/>
          <p:nvPr/>
        </p:nvSpPr>
        <p:spPr>
          <a:xfrm>
            <a:off x="594360" y="2148840"/>
            <a:ext cx="109728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6F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[INSERT: EUV's 100% share of advanced lithography, installed-base/service revenue, and the €38.8bn backlog (€7.4bn EUV bookings) from the investor presentation. Chart: backlog and book-to-bill over time.]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57200" y="54864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F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NOTES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5806440"/>
            <a:ext cx="11247120" cy="0"/>
          </a:xfrm>
          <a:prstGeom prst="line">
            <a:avLst/>
          </a:prstGeom>
          <a:noFill/>
          <a:ln w="12700">
            <a:solidFill>
              <a:srgbClr val="E3E0D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6126480"/>
            <a:ext cx="11247120" cy="0"/>
          </a:xfrm>
          <a:prstGeom prst="line">
            <a:avLst/>
          </a:prstGeom>
          <a:noFill/>
          <a:ln w="12700">
            <a:solidFill>
              <a:srgbClr val="E3E0D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65379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F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Bloombruh Research Toolkit — ASML Holding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F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BC5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 THESIS 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624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Thesis 2 — [CLAIM, e.g. 'Export controls are quantifiable — and partly priced in']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378440" y="3200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i="1" dirty="0">
                <a:solidFill>
                  <a:srgbClr val="2624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Bloom</a:t>
            </a:r>
            <a:pPr algn="r" indent="0" marL="0">
              <a:buNone/>
            </a:pPr>
            <a:r>
              <a:rPr lang="en-US" sz="1800" b="1" i="1" dirty="0">
                <a:solidFill>
                  <a:srgbClr val="BC5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bruh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1115568"/>
            <a:ext cx="11247120" cy="0"/>
          </a:xfrm>
          <a:prstGeom prst="line">
            <a:avLst/>
          </a:prstGeom>
          <a:noFill/>
          <a:ln w="25400">
            <a:solidFill>
              <a:srgbClr val="BC5B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280160"/>
            <a:ext cx="11247120" cy="685800"/>
          </a:xfrm>
          <a:prstGeom prst="rect">
            <a:avLst/>
          </a:prstGeom>
          <a:solidFill>
            <a:srgbClr val="F7E9E1"/>
          </a:solidFill>
          <a:ln w="12700">
            <a:solidFill>
              <a:srgbClr val="BC5B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28016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6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[INSERT: one-sentence argument]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148840"/>
            <a:ext cx="11247120" cy="3200400"/>
          </a:xfrm>
          <a:prstGeom prst="rect">
            <a:avLst/>
          </a:prstGeom>
          <a:solidFill>
            <a:srgbClr val="FCFBF8"/>
          </a:solidFill>
          <a:ln w="12700">
            <a:solidFill>
              <a:srgbClr val="E3E0D3"/>
            </a:solidFill>
            <a:prstDash val="dash"/>
          </a:ln>
        </p:spPr>
      </p:sp>
      <p:sp>
        <p:nvSpPr>
          <p:cNvPr id="9" name="Text 7"/>
          <p:cNvSpPr/>
          <p:nvPr/>
        </p:nvSpPr>
        <p:spPr>
          <a:xfrm>
            <a:off x="594360" y="2148840"/>
            <a:ext cx="109728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6F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[INSERT: China revenue share 33% → ~20% (quarterly 19% vs 36%) from results; scenario table of what the MATCH Act removes vs what remains. This is the number the whole thesis pivots on — make it a table, not a vibe.]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57200" y="54864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F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NOTES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5806440"/>
            <a:ext cx="11247120" cy="0"/>
          </a:xfrm>
          <a:prstGeom prst="line">
            <a:avLst/>
          </a:prstGeom>
          <a:noFill/>
          <a:ln w="12700">
            <a:solidFill>
              <a:srgbClr val="E3E0D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6126480"/>
            <a:ext cx="11247120" cy="0"/>
          </a:xfrm>
          <a:prstGeom prst="line">
            <a:avLst/>
          </a:prstGeom>
          <a:noFill/>
          <a:ln w="12700">
            <a:solidFill>
              <a:srgbClr val="E3E0D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65379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F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Bloombruh Research Toolkit — ASML Holding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F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BC5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 THESIS 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624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Thesis 3 — [CLAIM, e.g. 'The AI capex supercycle pulls EUV/High-NA demand regardless of China']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378440" y="3200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i="1" dirty="0">
                <a:solidFill>
                  <a:srgbClr val="2624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Bloom</a:t>
            </a:r>
            <a:pPr algn="r" indent="0" marL="0">
              <a:buNone/>
            </a:pPr>
            <a:r>
              <a:rPr lang="en-US" sz="1800" b="1" i="1" dirty="0">
                <a:solidFill>
                  <a:srgbClr val="BC5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bruh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1115568"/>
            <a:ext cx="11247120" cy="0"/>
          </a:xfrm>
          <a:prstGeom prst="line">
            <a:avLst/>
          </a:prstGeom>
          <a:noFill/>
          <a:ln w="25400">
            <a:solidFill>
              <a:srgbClr val="BC5B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280160"/>
            <a:ext cx="11247120" cy="685800"/>
          </a:xfrm>
          <a:prstGeom prst="rect">
            <a:avLst/>
          </a:prstGeom>
          <a:solidFill>
            <a:srgbClr val="F7E9E1"/>
          </a:solidFill>
          <a:ln w="12700">
            <a:solidFill>
              <a:srgbClr val="BC5B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28016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6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[INSERT: one-sentence argument]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148840"/>
            <a:ext cx="11247120" cy="3200400"/>
          </a:xfrm>
          <a:prstGeom prst="rect">
            <a:avLst/>
          </a:prstGeom>
          <a:solidFill>
            <a:srgbClr val="FCFBF8"/>
          </a:solidFill>
          <a:ln w="12700">
            <a:solidFill>
              <a:srgbClr val="E3E0D3"/>
            </a:solidFill>
            <a:prstDash val="dash"/>
          </a:ln>
        </p:spPr>
      </p:sp>
      <p:sp>
        <p:nvSpPr>
          <p:cNvPr id="9" name="Text 7"/>
          <p:cNvSpPr/>
          <p:nvPr/>
        </p:nvSpPr>
        <p:spPr>
          <a:xfrm>
            <a:off x="594360" y="2148840"/>
            <a:ext cx="109728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6F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[INSERT: TSMC/Intel/Samsung leading-edge capex plans as the demand indicator; High-NA EUV adoption roadmap. Chart: customer capex vs ASML EUV shipments.]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57200" y="54864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F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NOTES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5806440"/>
            <a:ext cx="11247120" cy="0"/>
          </a:xfrm>
          <a:prstGeom prst="line">
            <a:avLst/>
          </a:prstGeom>
          <a:noFill/>
          <a:ln w="12700">
            <a:solidFill>
              <a:srgbClr val="E3E0D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6126480"/>
            <a:ext cx="11247120" cy="0"/>
          </a:xfrm>
          <a:prstGeom prst="line">
            <a:avLst/>
          </a:prstGeom>
          <a:noFill/>
          <a:ln w="12700">
            <a:solidFill>
              <a:srgbClr val="E3E0D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65379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F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Bloombruh Research Toolkit — ASML Holding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F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BC5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STREET IS BEARISH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624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Bear Case — and the Honest Response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378440" y="3200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i="1" dirty="0">
                <a:solidFill>
                  <a:srgbClr val="2624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Bloom</a:t>
            </a:r>
            <a:pPr algn="r" indent="0" marL="0">
              <a:buNone/>
            </a:pPr>
            <a:r>
              <a:rPr lang="en-US" sz="1800" b="1" i="1" dirty="0">
                <a:solidFill>
                  <a:srgbClr val="BC5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bruh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1115568"/>
            <a:ext cx="11247120" cy="0"/>
          </a:xfrm>
          <a:prstGeom prst="line">
            <a:avLst/>
          </a:prstGeom>
          <a:noFill/>
          <a:ln w="25400">
            <a:solidFill>
              <a:srgbClr val="BC5B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280160"/>
            <a:ext cx="5440680" cy="329184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7" name="Text 5"/>
          <p:cNvSpPr/>
          <p:nvPr/>
        </p:nvSpPr>
        <p:spPr>
          <a:xfrm>
            <a:off x="530352" y="1280160"/>
            <a:ext cx="52943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BEAR CASE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609344"/>
            <a:ext cx="5440680" cy="4425696"/>
          </a:xfrm>
          <a:prstGeom prst="rect">
            <a:avLst/>
          </a:prstGeom>
          <a:solidFill>
            <a:srgbClr val="FFFFFF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1664208"/>
            <a:ext cx="5221224" cy="4315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–"/>
            </a:pPr>
            <a:r>
              <a:rPr lang="en-US" sz="1300" dirty="0">
                <a:solidFill>
                  <a:srgbClr val="26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 the strongest bear version — e.g. China goes to zero under new rules, orders digest for 2+ years, and the AI-capex narrative is already in the multiple.]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17920" y="1280160"/>
            <a:ext cx="5486400" cy="329184"/>
          </a:xfrm>
          <a:prstGeom prst="rect">
            <a:avLst/>
          </a:prstGeom>
          <a:solidFill>
            <a:srgbClr val="3E7D57"/>
          </a:solidFill>
          <a:ln/>
        </p:spPr>
      </p:sp>
      <p:sp>
        <p:nvSpPr>
          <p:cNvPr id="11" name="Text 9"/>
          <p:cNvSpPr/>
          <p:nvPr/>
        </p:nvSpPr>
        <p:spPr>
          <a:xfrm>
            <a:off x="6291072" y="1280160"/>
            <a:ext cx="53400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REBUTTAL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17920" y="1609344"/>
            <a:ext cx="5486400" cy="4425696"/>
          </a:xfrm>
          <a:prstGeom prst="rect">
            <a:avLst/>
          </a:prstGeom>
          <a:solidFill>
            <a:srgbClr val="FFFFFF"/>
          </a:solidFill>
          <a:ln w="12700">
            <a:solidFill>
              <a:srgbClr val="3E7D5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27648" y="1664208"/>
            <a:ext cx="5266944" cy="4315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–"/>
            </a:pPr>
            <a:r>
              <a:rPr lang="en-US" sz="1300" dirty="0">
                <a:solidFill>
                  <a:srgbClr val="26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 numbered answers — e.g. 1) backlog covers ~1+ year of revenue; 2) China is already down to ~20% — further loss is bounded; 3) every advanced AI chip still requires EUV, whoever makes it.]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65379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F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Bloombruh Research Toolkit — ASML Holding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F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BC5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624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DCF &amp; Scenario Analysis — Bear / Base / Bull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378440" y="3200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i="1" dirty="0">
                <a:solidFill>
                  <a:srgbClr val="2624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Bloom</a:t>
            </a:r>
            <a:pPr algn="r" indent="0" marL="0">
              <a:buNone/>
            </a:pPr>
            <a:r>
              <a:rPr lang="en-US" sz="1800" b="1" i="1" dirty="0">
                <a:solidFill>
                  <a:srgbClr val="BC5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bruh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1115568"/>
            <a:ext cx="11247120" cy="0"/>
          </a:xfrm>
          <a:prstGeom prst="line">
            <a:avLst/>
          </a:prstGeom>
          <a:noFill/>
          <a:ln w="25400">
            <a:solidFill>
              <a:srgbClr val="BC5B33"/>
            </a:solidFill>
            <a:prstDash val="solid"/>
          </a:ln>
        </p:spPr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6858000" cy="2011680"/>
        </p:xfrm>
        <a:graphic>
          <a:graphicData uri="http://schemas.openxmlformats.org/drawingml/2006/table">
            <a:tbl>
              <a:tblPr/>
              <a:tblGrid>
                <a:gridCol w="1371600"/>
                <a:gridCol w="1371600"/>
                <a:gridCol w="1371600"/>
                <a:gridCol w="1371600"/>
                <a:gridCol w="1371600"/>
              </a:tblGrid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4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Assumption Delta vs. Base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4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Price Target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4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Return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4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Weight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41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Bear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7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[INSERT: driver deltas]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7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[INSERT]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7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[INSERT]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7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[INSERT weight]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7E4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1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[INSERT: 'as modeled' + key drivers]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1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[INSERT]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1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[INSERT]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1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[INSERT weight]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1E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3E7D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Bull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F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[INSERT: driver deltas]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F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[INSERT]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F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E7D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[INSERT]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F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[INSERT weight]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FE8"/>
                    </a:solidFill>
                  </a:tcPr>
                </a:tc>
              </a:tr>
              <a:tr h="402336"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Weighted Target Price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C5B33"/>
                    </a:solidFill>
                  </a:tcPr>
                </a:tc>
                <a:tc hMerge="1">
                  <a:txBody>
                    <a:bodyPr/>
                    <a:p>
                      <a:r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[INSERT]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C5B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[=target vs current price]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C5B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C5B33"/>
                    </a:solidFill>
                  </a:tcPr>
                </a:tc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457200" y="3364992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F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scenario weights and growth/margin multipliers as modeling assumptions — judges will ask you to defend them out loud.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457200" y="3703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6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WACC BUILD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457200" y="3995928"/>
            <a:ext cx="11247120" cy="0"/>
          </a:xfrm>
          <a:prstGeom prst="line">
            <a:avLst/>
          </a:prstGeom>
          <a:noFill/>
          <a:ln w="12700">
            <a:solidFill>
              <a:srgbClr val="E3E0D3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457200" y="411480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F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Dual-listed: pick ONE risk-free (10-yr UST or German Bund) and stay consistent | beta from stockanalysis.com | ERP 5% | model in EUR (reporting currency) — divisor 1; note the Nasdaq USD quote separately. Build scenarios around the China-revenue-mix assumption, not a generic growth rate. [INSERT your values]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457200" y="4709160"/>
            <a:ext cx="11247120" cy="1371600"/>
          </a:xfrm>
          <a:prstGeom prst="rect">
            <a:avLst/>
          </a:prstGeom>
          <a:solidFill>
            <a:srgbClr val="F7E9E1"/>
          </a:solidFill>
          <a:ln w="12700">
            <a:solidFill>
              <a:srgbClr val="BC5B33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640080" y="4828032"/>
            <a:ext cx="108813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994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line of provenance: 'All figures from the accompanying DCF workbook; every input sourced on its Sources tab.'</a:t>
            </a:r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b="1" dirty="0">
                <a:solidFill>
                  <a:srgbClr val="994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Have the workbook open in Q&amp;A — walking a judge through one formula live is worth more than any slide.</a:t>
            </a:r>
            <a:pPr indent="0" marL="0">
              <a:buNone/>
            </a:pPr>
            <a:endParaRPr lang="en-US" sz="1150" dirty="0"/>
          </a:p>
        </p:txBody>
      </p:sp>
      <p:sp>
        <p:nvSpPr>
          <p:cNvPr id="14" name="Text 10"/>
          <p:cNvSpPr/>
          <p:nvPr/>
        </p:nvSpPr>
        <p:spPr>
          <a:xfrm>
            <a:off x="457200" y="65379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F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Bloombruh Research Toolkit — ASML Holding</a:t>
            </a:r>
            <a:endParaRPr lang="en-US" sz="800" dirty="0"/>
          </a:p>
        </p:txBody>
      </p:sp>
      <p:sp>
        <p:nvSpPr>
          <p:cNvPr id="15" name="Text 11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F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800" dirty="0"/>
          </a:p>
        </p:txBody>
      </p:sp>
      <p:sp>
        <p:nvSpPr>
          <p:cNvPr id="16" name="TextBox 15"/>
          <p:cNvSpPr txBox="1"/>
          <p:nvPr/>
        </p:nvSpPr>
        <p:spPr>
          <a:xfrm>
            <a:off x="7452360" y="1280160"/>
            <a:ext cx="4251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646464"/>
                </a:solidFill>
              </a:rPr>
              <a:t>[INSERT: Bear/Base/Bull target-price bar chart from the workbook, colour-coded]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BC5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CATALYSTS &amp; RISKS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624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When We Win &amp; What Could Break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378440" y="3200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i="1" dirty="0">
                <a:solidFill>
                  <a:srgbClr val="2624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Bloom</a:t>
            </a:r>
            <a:pPr algn="r" indent="0" marL="0">
              <a:buNone/>
            </a:pPr>
            <a:r>
              <a:rPr lang="en-US" sz="1800" b="1" i="1" dirty="0">
                <a:solidFill>
                  <a:srgbClr val="BC5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bruh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1115568"/>
            <a:ext cx="11247120" cy="0"/>
          </a:xfrm>
          <a:prstGeom prst="line">
            <a:avLst/>
          </a:prstGeom>
          <a:noFill/>
          <a:ln w="25400">
            <a:solidFill>
              <a:srgbClr val="BC5B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280160"/>
            <a:ext cx="5486400" cy="329184"/>
          </a:xfrm>
          <a:prstGeom prst="rect">
            <a:avLst/>
          </a:prstGeom>
          <a:solidFill>
            <a:srgbClr val="BC5B33"/>
          </a:solidFill>
          <a:ln/>
        </p:spPr>
      </p:sp>
      <p:sp>
        <p:nvSpPr>
          <p:cNvPr id="7" name="Text 5"/>
          <p:cNvSpPr/>
          <p:nvPr/>
        </p:nvSpPr>
        <p:spPr>
          <a:xfrm>
            <a:off x="530352" y="1280160"/>
            <a:ext cx="53400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/ CATALYST TIMELINE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609344"/>
            <a:ext cx="5486400" cy="1773936"/>
          </a:xfrm>
          <a:prstGeom prst="rect">
            <a:avLst/>
          </a:prstGeom>
          <a:solidFill>
            <a:srgbClr val="FFFFFF"/>
          </a:solidFill>
          <a:ln w="12700">
            <a:solidFill>
              <a:srgbClr val="BC5B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1664208"/>
            <a:ext cx="5266944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–"/>
            </a:pPr>
            <a:r>
              <a:rPr lang="en-US" sz="1050" dirty="0">
                <a:solidFill>
                  <a:srgbClr val="26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[INSERT: next quarterly results + bookings print date]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–"/>
            </a:pPr>
            <a:r>
              <a:rPr lang="en-US" sz="1050" dirty="0">
                <a:solidFill>
                  <a:srgbClr val="26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[INSERT: next BIS export-control decision window]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–"/>
            </a:pPr>
            <a:r>
              <a:rPr lang="en-US" sz="1050" dirty="0">
                <a:solidFill>
                  <a:srgbClr val="26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[INSERT: next investor day / High-NA milestone]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217920" y="1280160"/>
            <a:ext cx="5486400" cy="329184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1" name="Text 9"/>
          <p:cNvSpPr/>
          <p:nvPr/>
        </p:nvSpPr>
        <p:spPr>
          <a:xfrm>
            <a:off x="6291072" y="1280160"/>
            <a:ext cx="53400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RISK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17920" y="1609344"/>
            <a:ext cx="5486400" cy="1773936"/>
          </a:xfrm>
          <a:prstGeom prst="rect">
            <a:avLst/>
          </a:prstGeom>
          <a:solidFill>
            <a:srgbClr val="FFFFFF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27648" y="1664208"/>
            <a:ext cx="5266944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–"/>
            </a:pPr>
            <a:r>
              <a:rPr lang="en-US" sz="1050" dirty="0">
                <a:solidFill>
                  <a:srgbClr val="26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 risk 1 — e.g. MATCH Act passes] → [mitigant — e.g. China already de-weighted; backlog cushion]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–"/>
            </a:pPr>
            <a:r>
              <a:rPr lang="en-US" sz="1050" dirty="0">
                <a:solidFill>
                  <a:srgbClr val="26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 risk 2 — e.g. order digestion] → [mitigant — service/installed-base revenue floor]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–"/>
            </a:pPr>
            <a:r>
              <a:rPr lang="en-US" sz="1050" dirty="0">
                <a:solidFill>
                  <a:srgbClr val="26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 risk 3] → [mitigant 3]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57200" y="36576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6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CHECKLIST — WHAT A COMPLETE PACK NEEDS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950208"/>
            <a:ext cx="11247120" cy="0"/>
          </a:xfrm>
          <a:prstGeom prst="line">
            <a:avLst/>
          </a:prstGeom>
          <a:noFill/>
          <a:ln w="12700">
            <a:solidFill>
              <a:srgbClr val="E3E0D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4069080"/>
            <a:ext cx="112471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–"/>
            </a:pPr>
            <a:r>
              <a:rPr lang="en-US" sz="1100" dirty="0">
                <a:solidFill>
                  <a:srgbClr val="26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YOU PRESENT: target consistent with your stance (long = above price) · units checked (pence vs £, ADS ratios, currencies) · every number sourced · comps table complete · you can defend WACC and scenario weights out loud · live quote re-pulled that morning.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65379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F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Bloombruh Research Toolkit — ASML Holding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F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BC5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624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Comparable Companies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378440" y="3200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i="1" dirty="0">
                <a:solidFill>
                  <a:srgbClr val="2624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Bloom</a:t>
            </a:r>
            <a:pPr algn="r" indent="0" marL="0">
              <a:buNone/>
            </a:pPr>
            <a:r>
              <a:rPr lang="en-US" sz="1800" b="1" i="1" dirty="0">
                <a:solidFill>
                  <a:srgbClr val="BC5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bruh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1115568"/>
            <a:ext cx="11247120" cy="0"/>
          </a:xfrm>
          <a:prstGeom prst="line">
            <a:avLst/>
          </a:prstGeom>
          <a:noFill/>
          <a:ln w="25400">
            <a:solidFill>
              <a:srgbClr val="BC5B33"/>
            </a:solidFill>
            <a:prstDash val="solid"/>
          </a:ln>
        </p:spPr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6949440" cy="3291840"/>
        </p:xfrm>
        <a:graphic>
          <a:graphicData uri="http://schemas.openxmlformats.org/drawingml/2006/table">
            <a:tbl>
              <a:tblPr/>
              <a:tblGrid>
                <a:gridCol w="2011680"/>
                <a:gridCol w="987552"/>
                <a:gridCol w="987552"/>
                <a:gridCol w="987552"/>
                <a:gridCol w="987552"/>
                <a:gridCol w="987552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t/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EV/EBITDA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4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P/E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4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Rev. growth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4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EBIT margin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4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Mkt cap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41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Applied Materials (NASDAQ: AMAT)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[IN]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[IN]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[IN]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[IN]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[IN]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Lam Research (NASDAQ: LRCX)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[IN]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[IN]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[IN]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[IN]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[IN]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i="1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KLA Corp (NASDAQ: KLAC)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i="1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[IN]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i="1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[IN]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i="1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[IN]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i="1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[IN]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i="1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[IN]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[INSERT optional 4th — Tokyo Electron?]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[IN]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[IN]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[IN]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[IN]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[IN]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Median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[=MEDIAN]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[=MEDIAN]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[=MEDIAN]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[=MEDIAN]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ASML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[IN]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[IN]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[IN]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[IN]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[IN]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/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/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/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/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/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/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/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/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/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/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/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/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461772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F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figures in EUR millions unless noted; modeled in EUR (ASML's own reporting currency), converted to USD for the implied-price comparison to the Nasdaq quote</a:t>
            </a:r>
            <a:endParaRPr lang="en-US" sz="900" dirty="0"/>
          </a:p>
        </p:txBody>
      </p:sp>
      <p:graphicFrame>
        <p:nvGraphicFramePr>
          <p:cNvPr id="1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589520" y="1280160"/>
          <a:ext cx="4114800" cy="1554480"/>
        </p:xfrm>
        <a:graphic>
          <a:graphicData uri="http://schemas.openxmlformats.org/drawingml/2006/table">
            <a:tbl>
              <a:tblPr/>
              <a:tblGrid>
                <a:gridCol w="2468880"/>
                <a:gridCol w="1645920"/>
              </a:tblGrid>
              <a:tr h="310896"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to pull the numbers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41F"/>
                    </a:solidFill>
                  </a:tcPr>
                </a:tc>
                <a:tc hMerge="1">
                  <a:txBody>
                    <a:bodyPr/>
                    <a:p>
                      <a:r>
                        <a:t/>
                      </a:r>
                    </a:p>
                  </a:txBody>
                  <a:tcPr/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EV/EBITDA, P/E, growth, margins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stockanalysis.com → company page → Statistics / Financials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Market cap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stockanalysis.com or the exchange — same day for all comps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Cross-check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macrotrends.net (free, no login)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Median + target rows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computed live in the workbook's Comps tab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25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589520" y="2971800"/>
          <a:ext cx="4114800" cy="1920240"/>
        </p:xfrm>
        <a:graphic>
          <a:graphicData uri="http://schemas.openxmlformats.org/drawingml/2006/table">
            <a:tbl>
              <a:tblPr/>
              <a:tblGrid>
                <a:gridCol w="2468880"/>
                <a:gridCol w="1645920"/>
              </a:tblGrid>
              <a:tr h="274320"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 these comps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41F"/>
                    </a:solidFill>
                  </a:tcPr>
                </a:tc>
                <a:tc hMerge="1">
                  <a:txBody>
                    <a:bodyPr/>
                    <a:p>
                      <a:r>
                        <a:t/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AMAT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Broadest semicap portfolio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LRCX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Etch/deposition peer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KLAC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Process-control oligopoly — closest margin profile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Honesty note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peer has the EUV monopoly; premium debate is the point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/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/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/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/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5"/>
          <p:cNvSpPr/>
          <p:nvPr/>
        </p:nvSpPr>
        <p:spPr>
          <a:xfrm>
            <a:off x="457200" y="507492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F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judge asks why your target should trade above/below the median, answer with growth, margin, and ROIC differences — have that one sentence ready.</a:t>
            </a:r>
            <a:endParaRPr lang="en-US" sz="1000" dirty="0"/>
          </a:p>
        </p:txBody>
      </p:sp>
      <p:sp>
        <p:nvSpPr>
          <p:cNvPr id="11" name="Text 6"/>
          <p:cNvSpPr/>
          <p:nvPr/>
        </p:nvSpPr>
        <p:spPr>
          <a:xfrm>
            <a:off x="457200" y="65379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F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Bloombruh Research Toolkit — ASML Holding</a:t>
            </a:r>
            <a:endParaRPr lang="en-US" sz="800" dirty="0"/>
          </a:p>
        </p:txBody>
      </p:sp>
      <p:sp>
        <p:nvSpPr>
          <p:cNvPr id="12" name="Text 7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F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BC5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B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624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Porter's Five Forces &amp; Management / Insiders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378440" y="3200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i="1" dirty="0">
                <a:solidFill>
                  <a:srgbClr val="2624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Bloom</a:t>
            </a:r>
            <a:pPr algn="r" indent="0" marL="0">
              <a:buNone/>
            </a:pPr>
            <a:r>
              <a:rPr lang="en-US" sz="1800" b="1" i="1" dirty="0">
                <a:solidFill>
                  <a:srgbClr val="BC5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bruh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1115568"/>
            <a:ext cx="11247120" cy="0"/>
          </a:xfrm>
          <a:prstGeom prst="line">
            <a:avLst/>
          </a:prstGeom>
          <a:noFill/>
          <a:ln w="25400">
            <a:solidFill>
              <a:srgbClr val="BC5B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280160"/>
            <a:ext cx="5440680" cy="329184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7" name="Text 5"/>
          <p:cNvSpPr/>
          <p:nvPr/>
        </p:nvSpPr>
        <p:spPr>
          <a:xfrm>
            <a:off x="530352" y="1280160"/>
            <a:ext cx="52943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PORTER'S FIVE FORCES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609344"/>
            <a:ext cx="5440680" cy="4425696"/>
          </a:xfrm>
          <a:prstGeom prst="rect">
            <a:avLst/>
          </a:prstGeom>
          <a:solidFill>
            <a:srgbClr val="FFFFFF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1664208"/>
            <a:ext cx="5221224" cy="4315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–"/>
            </a:pPr>
            <a:r>
              <a:rPr lang="en-US" sz="1300" dirty="0">
                <a:solidFill>
                  <a:srgbClr val="26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rivalry: [High / Med / Low — one line why]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–"/>
            </a:pPr>
            <a:r>
              <a:rPr lang="en-US" sz="1300" dirty="0">
                <a:solidFill>
                  <a:srgbClr val="26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power: [rating + why]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–"/>
            </a:pPr>
            <a:r>
              <a:rPr lang="en-US" sz="1300" dirty="0">
                <a:solidFill>
                  <a:srgbClr val="26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 power: [rating + why]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–"/>
            </a:pPr>
            <a:r>
              <a:rPr lang="en-US" sz="1300" dirty="0">
                <a:solidFill>
                  <a:srgbClr val="26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of new entrants: [rating + why]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–"/>
            </a:pPr>
            <a:r>
              <a:rPr lang="en-US" sz="1300" dirty="0">
                <a:solidFill>
                  <a:srgbClr val="26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of substitutes: [rating + why]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17920" y="1280160"/>
            <a:ext cx="5486400" cy="329184"/>
          </a:xfrm>
          <a:prstGeom prst="rect">
            <a:avLst/>
          </a:prstGeom>
          <a:solidFill>
            <a:srgbClr val="3E7D57"/>
          </a:solidFill>
          <a:ln/>
        </p:spPr>
      </p:sp>
      <p:sp>
        <p:nvSpPr>
          <p:cNvPr id="11" name="Text 9"/>
          <p:cNvSpPr/>
          <p:nvPr/>
        </p:nvSpPr>
        <p:spPr>
          <a:xfrm>
            <a:off x="6291072" y="1280160"/>
            <a:ext cx="53400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&amp; INSIDERS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17920" y="1609344"/>
            <a:ext cx="5486400" cy="4425696"/>
          </a:xfrm>
          <a:prstGeom prst="rect">
            <a:avLst/>
          </a:prstGeom>
          <a:solidFill>
            <a:srgbClr val="FFFFFF"/>
          </a:solidFill>
          <a:ln w="12700">
            <a:solidFill>
              <a:srgbClr val="3E7D5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27648" y="1664208"/>
            <a:ext cx="5266944" cy="4315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–"/>
            </a:pPr>
            <a:r>
              <a:rPr lang="en-US" sz="1300" dirty="0">
                <a:solidFill>
                  <a:srgbClr val="26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Insider ownership: [INSERT % — 20-F]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–"/>
            </a:pPr>
            <a:r>
              <a:rPr lang="en-US" sz="1300" dirty="0">
                <a:solidFill>
                  <a:srgbClr val="26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Recent dealings: [INSERT — AFM/SEC disclosures]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–"/>
            </a:pPr>
            <a:r>
              <a:rPr lang="en-US" sz="1300" dirty="0">
                <a:solidFill>
                  <a:srgbClr val="26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record: [INSERT — capital allocation: buybacks, dividend growth]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–"/>
            </a:pPr>
            <a:r>
              <a:rPr lang="en-US" sz="1300" dirty="0">
                <a:solidFill>
                  <a:srgbClr val="26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Incentives: [INSERT — remuneration report highlights]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65379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F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Bloombruh Research Toolkit — ASML Holding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F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BC5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C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624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DCF Summary — [Base Case]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378440" y="3200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i="1" dirty="0">
                <a:solidFill>
                  <a:srgbClr val="2624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Bloom</a:t>
            </a:r>
            <a:pPr algn="r" indent="0" marL="0">
              <a:buNone/>
            </a:pPr>
            <a:r>
              <a:rPr lang="en-US" sz="1800" b="1" i="1" dirty="0">
                <a:solidFill>
                  <a:srgbClr val="BC5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bruh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1115568"/>
            <a:ext cx="11247120" cy="0"/>
          </a:xfrm>
          <a:prstGeom prst="line">
            <a:avLst/>
          </a:prstGeom>
          <a:noFill/>
          <a:ln w="25400">
            <a:solidFill>
              <a:srgbClr val="BC5B33"/>
            </a:solidFill>
            <a:prstDash val="solid"/>
          </a:ln>
        </p:spPr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6949440" cy="3291840"/>
        </p:xfrm>
        <a:graphic>
          <a:graphicData uri="http://schemas.openxmlformats.org/drawingml/2006/table">
            <a:tbl>
              <a:tblPr/>
              <a:tblGrid>
                <a:gridCol w="2011680"/>
                <a:gridCol w="987552"/>
                <a:gridCol w="987552"/>
                <a:gridCol w="987552"/>
                <a:gridCol w="987552"/>
                <a:gridCol w="987552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FY+1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4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FY+2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4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FY+3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4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FY+4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4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FY+5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41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Revenue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/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/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/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/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/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EBIT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/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/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/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/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/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i="1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EBIT margin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i="1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/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i="1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/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i="1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/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i="1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/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i="1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/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NOPAT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/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/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/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/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/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Plus: D&amp;A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/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/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/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/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/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Less: Capex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/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/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/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/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/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Less: Incr. NWC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/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/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/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/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/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Unlevered FCF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/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/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/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/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/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461772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F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figures in EUR millions unless noted; modeled in EUR (ASML's own reporting currency), converted to USD for the implied-price comparison to the Nasdaq quote</a:t>
            </a:r>
            <a:endParaRPr lang="en-US" sz="900" dirty="0"/>
          </a:p>
        </p:txBody>
      </p:sp>
      <p:graphicFrame>
        <p:nvGraphicFramePr>
          <p:cNvPr id="1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589520" y="1280160"/>
          <a:ext cx="4114800" cy="1554480"/>
        </p:xfrm>
        <a:graphic>
          <a:graphicData uri="http://schemas.openxmlformats.org/drawingml/2006/table">
            <a:tbl>
              <a:tblPr/>
              <a:tblGrid>
                <a:gridCol w="2468880"/>
                <a:gridCol w="1645920"/>
              </a:tblGrid>
              <a:tr h="310896"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Terminal Value Build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41F"/>
                    </a:solidFill>
                  </a:tcPr>
                </a:tc>
                <a:tc hMerge="1">
                  <a:tcPr/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Sum of PV of FCF (Yr 1-5)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/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Terminal Value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/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PV of Terminal Value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/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Enterprise Value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/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25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589520" y="2971800"/>
          <a:ext cx="4114800" cy="1920240"/>
        </p:xfrm>
        <a:graphic>
          <a:graphicData uri="http://schemas.openxmlformats.org/drawingml/2006/table">
            <a:tbl>
              <a:tblPr/>
              <a:tblGrid>
                <a:gridCol w="2468880"/>
                <a:gridCol w="1645920"/>
              </a:tblGrid>
              <a:tr h="274320"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WACC Build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41F"/>
                    </a:solidFill>
                  </a:tcPr>
                </a:tc>
                <a:tc hMerge="1"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Market Capitalization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/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Debt (for weighting)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/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Weight of Equity / Debt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/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 of Equity (CAPM)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/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After-Tax Cost of Debt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/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WACC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/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5"/>
          <p:cNvSpPr/>
          <p:nvPr/>
        </p:nvSpPr>
        <p:spPr>
          <a:xfrm>
            <a:off x="457200" y="507492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F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every cell by copying from your workbook, never retyping. All in the company's reporting currency (millions) unless noted. The workbook has the live Bear/Base/Bull re-derivation and a Sources tab.</a:t>
            </a:r>
            <a:endParaRPr lang="en-US" sz="1000" dirty="0"/>
          </a:p>
        </p:txBody>
      </p:sp>
      <p:sp>
        <p:nvSpPr>
          <p:cNvPr id="11" name="Text 6"/>
          <p:cNvSpPr/>
          <p:nvPr/>
        </p:nvSpPr>
        <p:spPr>
          <a:xfrm>
            <a:off x="457200" y="65379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F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Bloombruh Research Toolkit — ASML Holding</a:t>
            </a:r>
            <a:endParaRPr lang="en-US" sz="800" dirty="0"/>
          </a:p>
        </p:txBody>
      </p:sp>
      <p:sp>
        <p:nvSpPr>
          <p:cNvPr id="12" name="Text 7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F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BC5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624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Sources &amp; Data Appendix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378440" y="3200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i="1" dirty="0">
                <a:solidFill>
                  <a:srgbClr val="2624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Bloom</a:t>
            </a:r>
            <a:pPr algn="r" indent="0" marL="0">
              <a:buNone/>
            </a:pPr>
            <a:r>
              <a:rPr lang="en-US" sz="1800" b="1" i="1" dirty="0">
                <a:solidFill>
                  <a:srgbClr val="BC5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bruh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1115568"/>
            <a:ext cx="11247120" cy="0"/>
          </a:xfrm>
          <a:prstGeom prst="line">
            <a:avLst/>
          </a:prstGeom>
          <a:noFill/>
          <a:ln w="25400">
            <a:solidFill>
              <a:srgbClr val="BC5B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170432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F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hardcoded number in the deck — where it came from and when you pulled it. Re-verify against a live quote the morning you present.</a:t>
            </a:r>
            <a:endParaRPr lang="en-US" sz="105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45920"/>
          <a:ext cx="11247120" cy="4480560"/>
        </p:xfrm>
        <a:graphic>
          <a:graphicData uri="http://schemas.openxmlformats.org/drawingml/2006/table">
            <a:tbl>
              <a:tblPr/>
              <a:tblGrid>
                <a:gridCol w="2560320"/>
                <a:gridCol w="8686800"/>
              </a:tblGrid>
              <a:tr h="497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Input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4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 / Note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41F"/>
                    </a:solidFill>
                  </a:tcPr>
                </a:tc>
              </a:tr>
              <a:tr h="497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Share price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1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6F6B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[INSERT: source, value, date pulled]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1EA"/>
                    </a:solidFill>
                  </a:tcPr>
                </a:tc>
              </a:tr>
              <a:tr h="497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Shares outstanding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6F6B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[INSERT: source, value, date pulled]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7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 debt / net cash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1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6F6B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[INSERT: source, value, date pulled]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1EA"/>
                    </a:solidFill>
                  </a:tcPr>
                </a:tc>
              </a:tr>
              <a:tr h="497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Beta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6F6B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[INSERT: source, value, date pulled]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7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Risk-free rate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1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6F6B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[INSERT: source, value, date pulled]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1EA"/>
                    </a:solidFill>
                  </a:tcPr>
                </a:tc>
              </a:tr>
              <a:tr h="497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FY0 revenue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6F6B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[INSERT: source, value, date pulled]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7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FY0 operating margin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1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6F6B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[INSERT: source, value, date pulled]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1EA"/>
                    </a:solidFill>
                  </a:tcPr>
                </a:tc>
              </a:tr>
              <a:tr h="497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Revenue growth path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6F6B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[INSERT: source, value, date pulled]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457200" y="65379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F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Bloombruh Research Toolkit — ASML Holding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F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2026-08-06T04:30:31Z</dcterms:created>
  <dcterms:modified xsi:type="dcterms:W3CDTF">2026-08-06T04:30:31Z</dcterms:modified>
</cp:coreProperties>
</file>