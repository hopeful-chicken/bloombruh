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C5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Diploma PLC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LSE: DPLM   ·   Industrial Distribution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20-year UK compounder, re-rated by a fresh US aerospace bolt-on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3C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____________     Target Price: ____________     Upside/Downside: 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Pitch Deck Template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£236m Peerless Aerospace Fastener acquisition (2026), expected +8% EPS accretion in year 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see upside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M&amp;A + Compounding Track Record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bolt-on M&amp;A engine — decades of buying small distributors at sensible multiples and integrating them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128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Aerospace/Defense-Adjacent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Peerless deal extends into aerospace/defense-adjacent distribution — a second way into the rearmament tailwind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Momentum Ahead of Guidance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FY2026: EPS +36% YoY, organic revenue +15%, operating margin +300bps to 24.5%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 size/growth chart — cite your source directly on the slide]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309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revenue mix / business model diagram — where does the money actually come from?]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comparables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Bunzl (LSE: BNZL)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Fastenal (NASDAQ: FAST)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W.W. Grainger (NYSE: GWW)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1 — Proven M&amp;A + Compounding Track Record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bolt-on M&amp;A engine — decades of buying small distributors at sensible multiples and integrating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2 — Aerospace/Defense-Adjacent Expansion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Peerless deal extends into aerospace/defense-adjacent distribution — a second way into the rearmament tailwind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Is Bearish — Here's the Honest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may worry Diploma is overpaying as the roll-up matures and good targets get scarcer.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20-year record of disciplined, accretive bolt-ons (not one bad cycle) is real evidence against that, and Peerless's stated +8% EPS accretion is a concrete, checkable near-term test.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— DCF &amp; Scenario Analysis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Upside/(Downside)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x0.55, WACC +100bp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2,131p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modeled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3,786p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x1.35, WACC -100bp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6,163p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3,967p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(25/50/25) and the Bear/Bull growth-and-margin multipliers are stated modeling assumptions, not sourced figures — change them freely to reflect your own view. Full build in the downloadable DCF workbook (this pitch's Research Toolkit).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inputs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4.99%      Beta: 1.04      Equity Risk Premium: 5%      Cost of Debt (pre-tax): 5.8%      Tax Rate: 25%      WACC: 10%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BC5B33">
              <a:alpha val="8000"/>
            </a:srgbClr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real, not a placeholder — pulled from the actual DCF workbook.
</a:t>
            </a:r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Diploma PLC DCF workbook (this pitch's Research Toolkit) for the complete 5-year FCF build behind every number above, plus a live Bear/Base/Bull sheet where you can change any assumption and watch the target price recompute. Every hardcoded input there is sourced — see this deck's final Sources slide, or the workbook's own Sources tab.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Catalysts, Risks &amp; Appendix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2-3 near-term dated events that would confirm or break this thesis — e.g. next earnings date, a specific regulatory decision, a contract renewal]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459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execution risk — deterioration if it overpays, integrates poorly, or runs out of good targets. Premium valuation already prices in continued execution.
</a:t>
            </a:r>
            <a:pPr indent="0" marL="0">
              <a:buNone/>
            </a:pPr>
            <a:r>
              <a:rPr lang="en-US" sz="11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[?]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checklist — what a complete pack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output + Bear/Base/Bull sensitivity — done on the previous slide and in the downloadable workbook; re-run it with your own view on growth, margin, or WACC before you present it as yours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number in this deck sourced on the next slide — cite the same sources yourself, don't just cite this deck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used to build the valuation on the DCF slide — where it came from, compiled August 2026. A dated snapshot, not a live feed: verify against a live quote before you present this.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7,525p as of 22 Jul 2026 (stockanalysis.com / site pitch)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134.09m (stockanalysis.com, 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£383.2m (cash £81.7m, debt £464.9m) — stockanalysis.com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 (stockanalysis.com)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10-year gilt yield, 4.99% (4 Aug 2026, tradingeconomics.com)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revenue £1,524.5m (Diploma FY25 results, 18 Nov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operating margin 22.5% (£342.7m op. profit / £1,524.5m revenue)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from Q1 FY26 reported growth (+17%); tapering toward a mid-single-digit long-run rate as the Peerless/PAR bolt-ons annualize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Diploma PLC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2026-08-06T04:01:12Z</dcterms:created>
  <dcterms:modified xsi:type="dcterms:W3CDTF">2026-08-06T04:01:12Z</dcterms:modified>
</cp:coreProperties>
</file>