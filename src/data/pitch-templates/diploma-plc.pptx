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6" r:id="rId17"/>
    <p:sldId id="259" r:id="rId5"/>
    <p:sldId id="260" r:id="rId6"/>
    <p:sldId id="267" r:id="rId18"/>
    <p:sldId id="261" r:id="rId7"/>
    <p:sldId id="262" r:id="rId8"/>
    <p:sldId id="264" r:id="rId10"/>
    <p:sldId id="268" r:id="rId19"/>
    <p:sldId id="269" r:id="rId20"/>
    <p:sldId id="263" r:id="rId9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3.xml"/><Relationship Id="rId10" Type="http://schemas.openxmlformats.org/officeDocument/2006/relationships/slide" Target="slides/slide10.xml"/><Relationship Id="rId11" Type="http://schemas.openxmlformats.org/officeDocument/2006/relationships/slide" Target="slides/slide14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4.xml"/><Relationship Id="rId18" Type="http://schemas.openxmlformats.org/officeDocument/2006/relationships/slide" Target="slides/slide7.xml"/><Relationship Id="rId19" Type="http://schemas.openxmlformats.org/officeDocument/2006/relationships/slide" Target="slides/slide11.xml"/><Relationship Id="rId20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2131.2</c:v>
                </c:pt>
                <c:pt idx="1">
                  <c:v>3786.35</c:v>
                </c:pt>
                <c:pt idx="2">
                  <c:v>6163.28</c:v>
                </c:pt>
                <c:pt idx="3">
                  <c:v>7525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Diploma PLC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[LONG / SHORT / AVOID] Diploma PLC (LSE: DPLM) — pick the stance your own valuation actually supports</a:t>
            </a:r>
            <a:pPr indent="0" marL="0">
              <a:buNone/>
            </a:pP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[INSERT price + date pulled]    |    Target Price: [INSERT yours] ([INSERT % upside/downside])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 rules before you present: (1) a LONG target must sit ABOVE today's price — if your DCF lands below it, the honest pitch is AVOID or SHORT (a short won OAF — see the Altria reference deck).</a:t>
            </a:r>
            <a:endParaRPr lang="en-US" sz="1000" dirty="0"/>
          </a:p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Check units: UK shares price in pence, financials in £m — a pence/pounds slip makes any target look 100x wrong. (3) Compare your target with the 52-week range; landing outside it needs a very good reason.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[Your one-sentence verdict: what the company is + why now — e.g. 'A 20-year UK compounder, re-rated by a fresh US aerospace bolt-on']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Consensus thinks: [INSERT — what the market currently believes; check the P/E vs its own history and sell-side note summaries]</a:t>
            </a:r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think: [INSERT — your one-line disagreement; the mispricing your three theses will prove]</a:t>
            </a:r>
            <a:pPr indent="0" marL="0">
              <a:buNone/>
            </a:pP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1 — [write the CLAIM, not a label]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one-line support]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2 — [claim]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one-line support]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Thesis 3 — [claim]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one-line support]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12-month share-price chart vs a sector index, with the trigger event annotated. Every winning deck opens with this.]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[Thesis 1 one-liner]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[Thesis 2 one-liner]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[Thesis 3 one-liner]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single biggest thing that breaks your thesis, 1-2 lines]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Distribution — Where Diploma PLC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demand driver 1 — one line, with a number and a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market-size or growth chart with a CAGR annotation — sources: company investor day, industry report, Statista. This chart is the first thing judges look at on this slide.]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Bunzl (LSE: BNZL)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Fastenal (NASDAQ: FAST)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W.W. Grainger (NYSE: GWW)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1-2 closer peers if you can justify them — and say explicitly that no pure-play listed comp exists]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4-5 box business-model diagram — who pays whom, for what (suppliers → Diploma's three divisions → end customers). Model it on the GPN reference deck's payment-flow diagram.]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1 — what stops a competitor copying this? e.g. niche inventory depth, switching costs]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moat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EXPECTATIONS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Current Share Price Already Assumes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theses, show what the market already prices in — your pitch lives in the gap between that and your own forecast.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the workbook's Reverse DCF tab (Excel Goal Seek) solves for the growth the current price implies.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reverse-DCF table — columns: Metric | Historical | Implied by current price | Your forecast | Gap.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Rows: revenue CAGR, operating margin, EPS growth. Historicals from the latest annual report; 'implied' from the workbook's Reverse tab; 'your forecast' from your DCF.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biggest differentiator in the winning decks — neither of your current slides has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1 — [write it as a CLAIM, e.g. 'A 20-year bolt-on engine that has never overpaid through a cycle']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one-sentence version of the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proof — one dense chart or table, with numbered sub-points 1/2/3, each tied to a piece of evidence.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thesis: deals per year plus revenue/EPS compounding over 10-20 years — or a table of Diploma's own past acquisitions (year / target / price / multiple / accretion). A roll-up's own deal history is the strongest evidence that exists.]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2 — [CLAIM, e.g. 'Peerless is the bridge into aerospace/defense distribution — a bigger, faster pool of targets']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one-sentence version of the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proof chart or table, with numbered sub-points.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thesis: the deal economics from the acquisition RNS (price, expected EPS accretion, how it's financed) plus a defense-spending trend chart showing the tailwind the deal buys into.]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Thesis 3 — [CLAIM, e.g. 'ROIC above WACC through every cycle — the compounding is real, not just M&amp;A fuel']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one-sentence version of the argument]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proof chart or table, with numbered sub-points.</a:t>
            </a:r>
            <a:endParaRPr lang="en-US" sz="1050" dirty="0"/>
          </a:p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thesis: ROIC vs WACC over 10 years (from annual reports), and an organic-vs-acquired revenue growth split from results statements — it proves the engine isn't only acquisitions.]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Bear Case — and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strongest version of the other side — steal it from the most bearish analyst note you can find. Steelman it, don't strawman it.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Diploma: the roll-up overpays as good targets get scarcer, and a premium multiple already prices in flawless execution.]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numbered 1/2/3 answers, each tied to a checkable fact or a dated future event that will prove who is right.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Peerless's disclosed accretion guidance is a 12-month checkable test — if it lands, the discipline question is answered.]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deltas, e.g. growth x0.55, WACC +100bp]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'as modeled' + key drivers]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driver deltas]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weight]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[=target vs current price]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scenario weights and growth/margin multipliers as modeling assumptions — judges will ask you to defend them out loud.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Risk-free: [INSERT 10-yr UK gilt, BoE]   Beta: [INSERT, stockanalysis.com]   ERP: 5%   Cost of equity: [INSERT]   After-tax cost of debt: [INSERT]   Weights E/D: [INSERT]   WACC: [INSERT]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  <p:txBody>
          <a:bodyPr/>
          <a:p>
            <a:r>
              <a:t/>
            </a:r>
          </a:p>
        </p:txBody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of provenance: 'All figures from the accompanying DCF workbook; every input sourced on its Sources tab.'</a:t>
            </a:r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the workbook open in Q&amp;A — walking a judge through one formula live is worth more than any slide.</a:t>
            </a:r>
            <a:pPr indent="0" marL="0">
              <a:buNone/>
            </a:pP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  <p:sp>
        <p:nvSpPr>
          <p:cNvPr id="16" name="TextBox 15"/>
          <p:cNvSpPr txBox="1"/>
          <p:nvPr/>
        </p:nvSpPr>
        <p:spPr>
          <a:xfrm>
            <a:off x="7452360" y="1280160"/>
            <a:ext cx="4251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6464"/>
                </a:solidFill>
              </a:rPr>
              <a:t>[INSERT: Bear/Base/Bull target-price bar chart from the workbook, colour-coded]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dated catalyst 1 — e.g. next results date from the IR calendar]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catalyst 2 — acquisition completion / integration milestone, with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catalyst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risk 1] → [mitigant 1]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risk 2] → [mitigant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risk 3] → [mitigant 3]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PRESENT: target consistent with your stance (long = above price) · units checked (pence vs £) · every number sourced · comps table complete · you can defend WACC and scenario weights out loud · live quote re-pulled that morning.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Comparable Companies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P/E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Rev. growth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Mkt cap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Bunzl (LSE: BNZL)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Fastenal (NASDAQ: FAST)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W.W. Grainger (NYSE: GWW)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optional 4th comp]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[=MEDIAN]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Diploma PLC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pull the numbers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EV/EBITDA, P/E, growth, margins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→ company page → Statistics / Financials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stockanalysis.com or LSE — same day for all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macrotrends.net (free, no login)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+ Diploma rows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computed live in the workbook's Comps tab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these comps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xBody>
                    <a:bodyPr/>
                    <a:p>
                      <a:r>
                        <a:t/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Bunzl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Closest UK distribution 'compounder'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Fastenal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industrial distribution, premium-rated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Grainger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 MRO scale player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 4th]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why it belongs]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Honesty note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pure-play listed peer exists — say so; judges respect 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judge asks why Diploma should trade above/below the median, answer with growth, margin, and ROIC differences — have that one sentence ready.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Porter's Five Forces &amp; Management / Insiders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rivalry: [High / Med / Low — one line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 power: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new entrants: [rating + why]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of substitutes: [rating + why]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&amp; INSIDERS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Insider ownership: [INSERT % — annual report]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dealings: [INSERT buys/sells — LSE RNS 'directors' dealings']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record: [INSERT — capital allocation over their tenure]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Incentives: [INSERT — what executive comp actually rewards, from the remuneration report]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[Base Case]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every cell by copying from your workbook, never retyping. All £m unless noted; share price in pence. The workbook has the live Bear/Base/Bull re-derivation and a Sources tab.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in the deck — where it came from and when you pulled it. Re-verify against a live quote the morning you present.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[INSERT: source, value, date pulled]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Diploma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