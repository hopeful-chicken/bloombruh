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62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40080"/>
            <a:ext cx="1371600" cy="365760"/>
          </a:xfrm>
          <a:prstGeom prst="roundRect">
            <a:avLst>
              <a:gd name="adj" fmla="val 15000"/>
            </a:avLst>
          </a:prstGeom>
          <a:solidFill>
            <a:srgbClr val="BC5B33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64008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2103120"/>
            <a:ext cx="10972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Palantir Technologies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548640" y="3200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3E0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NASDAQ: PLTR   ·   Enterprise AI / Data Software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48640" y="379476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BC5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342% commercial AI growth, priced at a multiple with no room for error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5486400"/>
            <a:ext cx="11064240" cy="0"/>
          </a:xfrm>
          <a:prstGeom prst="line">
            <a:avLst/>
          </a:prstGeom>
          <a:noFill/>
          <a:ln w="12700">
            <a:solidFill>
              <a:srgbClr val="3C38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566928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3E0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 Price: ____________     Target Price: ____________     Upside/Downside: ____________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48640" y="612648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Prepared by: ____________________          Date: ____________________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Bloombruh Research Toolkit — Pitch Deck Template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6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Pitch Summary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11247120" cy="1051560"/>
          </a:xfrm>
          <a:prstGeom prst="rect">
            <a:avLst/>
          </a:prstGeom>
          <a:solidFill>
            <a:srgbClr val="BC5B33">
              <a:alpha val="10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685800" y="1188720"/>
            <a:ext cx="10789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94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now — the trigger
</a:t>
            </a:r>
            <a:pPr indent="0" marL="0">
              <a:buNone/>
            </a:pPr>
            <a:r>
              <a:rPr lang="en-US" sz="130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Michael Burry's disclosed short position, explicitly framed as a 'priced for perfection' argument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3774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6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we see upside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57200" y="2834640"/>
            <a:ext cx="3630168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0D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297180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BC5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640080" y="3429000"/>
            <a:ext cx="32644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Commercial AI Growth Is Real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40080" y="3977640"/>
            <a:ext cx="32644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Commercial AI revenue +342% YoY to $1.31bn, with 47% free cash flow margins — real, not vapourware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4270248" y="2834640"/>
            <a:ext cx="3630168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0D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453128" y="297180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BC5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4453128" y="3429000"/>
            <a:ext cx="32644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 of 40+ Quality Metrics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453128" y="3977640"/>
            <a:ext cx="32644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 of 40 score above 140% — well clear of the standard software-quality benchmark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8083296" y="2834640"/>
            <a:ext cx="3630168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0D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66176" y="297180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BC5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8266176" y="3429000"/>
            <a:ext cx="32644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Government Concentration — Quantified, Not Assumed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8266176" y="3977640"/>
            <a:ext cx="32644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Government revenue still 55% of total, anchored by a $10bn multi-year US Army contract — a real, checkable concentration risk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457200" y="4983480"/>
            <a:ext cx="1124712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0D3"/>
            </a:solidFill>
            <a:prstDash val="dash"/>
          </a:ln>
        </p:spPr>
      </p:sp>
      <p:sp>
        <p:nvSpPr>
          <p:cNvPr id="19" name="Text 17"/>
          <p:cNvSpPr/>
          <p:nvPr/>
        </p:nvSpPr>
        <p:spPr>
          <a:xfrm>
            <a:off x="594360" y="4983480"/>
            <a:ext cx="109728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[INSERT: stock price chart, last 12 months, vs. a relevant sector index — annotate the trigger date directly on the chart]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Bloombruh Research Toolkit — Palantir Technologies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6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Industry &amp; Business Overview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143000"/>
            <a:ext cx="5532120" cy="2651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0D3"/>
            </a:solidFill>
            <a:prstDash val="dash"/>
          </a:ln>
        </p:spPr>
      </p:sp>
      <p:sp>
        <p:nvSpPr>
          <p:cNvPr id="4" name="Text 2"/>
          <p:cNvSpPr/>
          <p:nvPr/>
        </p:nvSpPr>
        <p:spPr>
          <a:xfrm>
            <a:off x="594360" y="1143000"/>
            <a:ext cx="525780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[INSERT: industry size/growth chart — cite your source directly on the slide]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172200" y="1143000"/>
            <a:ext cx="5532120" cy="2651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0D3"/>
            </a:solidFill>
            <a:prstDash val="dash"/>
          </a:ln>
        </p:spPr>
      </p:sp>
      <p:sp>
        <p:nvSpPr>
          <p:cNvPr id="6" name="Text 4"/>
          <p:cNvSpPr/>
          <p:nvPr/>
        </p:nvSpPr>
        <p:spPr>
          <a:xfrm>
            <a:off x="6309360" y="1143000"/>
            <a:ext cx="525780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[INSERT: revenue mix / business model diagram — where does the money actually come from?]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39776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6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Key comparables to know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457200" y="4434840"/>
            <a:ext cx="73152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–"/>
            </a:pPr>
            <a:r>
              <a:rPr lang="en-US" sz="130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Snowflake (NYSE: SNOW)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–"/>
            </a:pPr>
            <a:r>
              <a:rPr lang="en-US" sz="130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C3.ai (NYSE: AI)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Bloombruh Research Toolkit — Palantir Technologies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6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Investment Thesis 1 — Commercial AI Growth Is Real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143000"/>
            <a:ext cx="11247120" cy="822960"/>
          </a:xfrm>
          <a:prstGeom prst="rect">
            <a:avLst/>
          </a:prstGeom>
          <a:solidFill>
            <a:srgbClr val="BC5B33">
              <a:alpha val="10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685800" y="1143000"/>
            <a:ext cx="10789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Commercial AI revenue +342% YoY to $1.31bn, with 47% free cash flow margins — real, not vapourware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2148840"/>
            <a:ext cx="11247120" cy="3108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0D3"/>
            </a:solidFill>
            <a:prstDash val="dash"/>
          </a:ln>
        </p:spPr>
      </p:sp>
      <p:sp>
        <p:nvSpPr>
          <p:cNvPr id="6" name="Text 4"/>
          <p:cNvSpPr/>
          <p:nvPr/>
        </p:nvSpPr>
        <p:spPr>
          <a:xfrm>
            <a:off x="594360" y="2148840"/>
            <a:ext cx="1097280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[INSERT: the chart or data table that actually proves this thesis — pull it from a primary source, not a summary of one. See this pitch's Research Toolkit for exactly where to look.]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54406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notes: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57200" y="5806440"/>
            <a:ext cx="11247120" cy="0"/>
          </a:xfrm>
          <a:prstGeom prst="line">
            <a:avLst/>
          </a:prstGeom>
          <a:noFill/>
          <a:ln w="12700">
            <a:solidFill>
              <a:srgbClr val="E3E0D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7200" y="6126480"/>
            <a:ext cx="11247120" cy="0"/>
          </a:xfrm>
          <a:prstGeom prst="line">
            <a:avLst/>
          </a:prstGeom>
          <a:noFill/>
          <a:ln w="12700">
            <a:solidFill>
              <a:srgbClr val="E3E0D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Bloombruh Research Toolkit — Palantir Technologies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6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Investment Thesis 2 — Rule of 40+ Quality Metrics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143000"/>
            <a:ext cx="11247120" cy="822960"/>
          </a:xfrm>
          <a:prstGeom prst="rect">
            <a:avLst/>
          </a:prstGeom>
          <a:solidFill>
            <a:srgbClr val="BC5B33">
              <a:alpha val="10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685800" y="1143000"/>
            <a:ext cx="10789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 of 40 score above 140% — well clear of the standard software-quality benchmark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2148840"/>
            <a:ext cx="11247120" cy="3108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0D3"/>
            </a:solidFill>
            <a:prstDash val="dash"/>
          </a:ln>
        </p:spPr>
      </p:sp>
      <p:sp>
        <p:nvSpPr>
          <p:cNvPr id="6" name="Text 4"/>
          <p:cNvSpPr/>
          <p:nvPr/>
        </p:nvSpPr>
        <p:spPr>
          <a:xfrm>
            <a:off x="594360" y="2148840"/>
            <a:ext cx="1097280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[INSERT: the chart or data table that actually proves this thesis — pull it from a primary source, not a summary of one. See this pitch's Research Toolkit for exactly where to look.]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54406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notes: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57200" y="5806440"/>
            <a:ext cx="11247120" cy="0"/>
          </a:xfrm>
          <a:prstGeom prst="line">
            <a:avLst/>
          </a:prstGeom>
          <a:noFill/>
          <a:ln w="12700">
            <a:solidFill>
              <a:srgbClr val="E3E0D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7200" y="6126480"/>
            <a:ext cx="11247120" cy="0"/>
          </a:xfrm>
          <a:prstGeom prst="line">
            <a:avLst/>
          </a:prstGeom>
          <a:noFill/>
          <a:ln w="12700">
            <a:solidFill>
              <a:srgbClr val="E3E0D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Bloombruh Research Toolkit — Palantir Technologies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6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Street Is Bearish — Here's the Honest Response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5440680" cy="4114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0D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85800" y="1371600"/>
            <a:ext cx="4983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BEAR CASE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85800" y="1783080"/>
            <a:ext cx="498348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80-100x forward earnings, even a moderate growth deceleration could erase a large share of the share price on multiple compression alone.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217920" y="1188720"/>
            <a:ext cx="5486400" cy="4114800"/>
          </a:xfrm>
          <a:prstGeom prst="rect">
            <a:avLst/>
          </a:prstGeom>
          <a:solidFill>
            <a:srgbClr val="FFFFFF"/>
          </a:solidFill>
          <a:ln w="19050">
            <a:solidFill>
              <a:srgbClr val="BC5B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46520" y="137160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94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REBUTTAL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446520" y="1783080"/>
            <a:ext cx="502920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the correct bear case, not a strawman — the honest response is a sensitivity table showing exactly how much of the current price is growth vs. multiple, not a narrative defense.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Bloombruh Research Toolkit — Palantir Technologies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6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Valuation — DCF &amp; Scenario Analysis</a:t>
            </a:r>
            <a:endParaRPr lang="en-US" sz="26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11247120" cy="2011680"/>
        </p:xfrm>
        <a:graphic>
          <a:graphicData uri="http://schemas.openxmlformats.org/drawingml/2006/table">
            <a:tbl>
              <a:tblPr/>
              <a:tblGrid>
                <a:gridCol w="2249424"/>
                <a:gridCol w="2249424"/>
                <a:gridCol w="2249424"/>
                <a:gridCol w="2249424"/>
                <a:gridCol w="2249424"/>
              </a:tblGrid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Case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Key Assumption Delta vs. Base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Price Target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Upside/(Downside)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Weight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41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Bear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Growth x0.55, WACC +100bp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-75.4%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 modeled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$62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-50.5%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Bull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Growth x1.35, WACC -100bp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$113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-10.3%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 gridSpan="2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Weighted Target Price: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cPr/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$67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-46.7%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/>
          <p:nvPr/>
        </p:nvSpPr>
        <p:spPr>
          <a:xfrm>
            <a:off x="457200" y="324612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Weights (25/50/25) and the Bear/Bull growth-and-margin multipliers are stated modeling assumptions, not sourced figures — change them freely to reflect your own view. Full build in the downloadable DCF workbook (this pitch's Research Toolkit).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457200" y="36118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6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WACC inputs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457200" y="397764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Risk-free rate: 4.62%      Beta: 1.56      Equity Risk Premium: 5%      Cost of Debt (pre-tax): 5.5%      Tax Rate: 21%      WACC: 12.4%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457200" y="4526280"/>
            <a:ext cx="11247120" cy="1554480"/>
          </a:xfrm>
          <a:prstGeom prst="rect">
            <a:avLst/>
          </a:prstGeom>
          <a:solidFill>
            <a:srgbClr val="BC5B33">
              <a:alpha val="8000"/>
            </a:srgbClr>
          </a:solidFill>
          <a:ln w="12700">
            <a:solidFill>
              <a:srgbClr val="BC5B33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85800" y="4663440"/>
            <a:ext cx="107899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994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table is real, not a placeholder — pulled from the actual DCF workbook.
</a:t>
            </a:r>
            <a:pPr indent="0" marL="0">
              <a:buNone/>
            </a:pPr>
            <a:r>
              <a:rPr lang="en-US" sz="115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Download the full Palantir Technologies DCF workbook (this pitch's Research Toolkit) for the complete 5-year FCF build behind every number above, plus a live Bear/Base/Bull sheet where you can change any assumption and watch the target price recompute. Every hardcoded input there is sourced — see this deck's final Sources slide, or the workbook's own Sources tab.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Bloombruh Research Toolkit — Palantir Technologies</a:t>
            </a:r>
            <a:endParaRPr lang="en-US" sz="800" dirty="0"/>
          </a:p>
        </p:txBody>
      </p:sp>
      <p:sp>
        <p:nvSpPr>
          <p:cNvPr id="10" name="Text 7"/>
          <p:cNvSpPr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6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Catalysts, Risks &amp; Appendix Checklist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1430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6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Event timeline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508760"/>
            <a:ext cx="5532120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0D3"/>
            </a:solidFill>
            <a:prstDash val="dash"/>
          </a:ln>
        </p:spPr>
      </p:sp>
      <p:sp>
        <p:nvSpPr>
          <p:cNvPr id="5" name="Text 3"/>
          <p:cNvSpPr/>
          <p:nvPr/>
        </p:nvSpPr>
        <p:spPr>
          <a:xfrm>
            <a:off x="594360" y="1508760"/>
            <a:ext cx="52578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[INSERT: 2-3 near-term dated events that would confirm or break this thesis — e.g. next earnings date, a specific regulatory decision, a contract renewal]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172200" y="11430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6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Key risk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172200" y="1508760"/>
            <a:ext cx="5532120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0D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355080" y="1645920"/>
            <a:ext cx="516636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Multiple compression risk dominates — genuinely strong growth at a valuation with no margin for a slower quarter.
</a:t>
            </a:r>
            <a:pPr indent="0" marL="0">
              <a:buNone/>
            </a:pPr>
            <a:r>
              <a:rPr lang="en-US" sz="1150" i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Mitigant: [?]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457200" y="370332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6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Appendix checklist — what a complete pack needs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57200" y="4114800"/>
            <a:ext cx="1124712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–"/>
            </a:pPr>
            <a:r>
              <a:rPr lang="en-US" sz="115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comparable companies table (margins, growth, EV/EBITDA, P/E — see this pitch's Research Toolkit for real comps)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–"/>
            </a:pPr>
            <a:r>
              <a:rPr lang="en-US" sz="115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Porter's Five Forces for the industry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–"/>
            </a:pPr>
            <a:r>
              <a:rPr lang="en-US" sz="115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Precedent M&amp;A transactions in the sector, if relevant to the thesis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–"/>
            </a:pPr>
            <a:r>
              <a:rPr lang="en-US" sz="115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Management/insider activity summary (recent buying or selling, ownership %)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–"/>
            </a:pPr>
            <a:r>
              <a:rPr lang="en-US" sz="115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DCF output + Bear/Base/Bull sensitivity — done on the previous slide and in the downloadable workbook; re-run it with your own view on growth, margin, or WACC before you present it as yours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–"/>
            </a:pPr>
            <a:r>
              <a:rPr lang="en-US" sz="115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real number in this deck sourced on the next slide — cite the same sources yourself, don't just cite this deck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Bloombruh Research Toolkit — Palantir Technologies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262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Sources &amp; Data Appendix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E3E0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hardcoded number used to build the valuation on the DCF slide — where it came from, compiled August 2026. A dated snapshot, not a live feed: verify against a live quote before you present this.</a:t>
            </a:r>
            <a:endParaRPr lang="en-US" sz="12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554480"/>
          <a:ext cx="11247120" cy="4572000"/>
        </p:xfrm>
        <a:graphic>
          <a:graphicData uri="http://schemas.openxmlformats.org/drawingml/2006/table">
            <a:tbl>
              <a:tblPr/>
              <a:tblGrid>
                <a:gridCol w="2560320"/>
                <a:gridCol w="8686800"/>
              </a:tblGrid>
              <a:tr h="5080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Input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3C38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C38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C38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C38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C5B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Source / Note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3C38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C38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C38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C38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C5B33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Share price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3C38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C38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C38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C38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2B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E3E0D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$125.65 (3 Aug 2026) — the stock has since moved higher on Q2 earnings (reported ~$128-162 range later in August); this dated anchor is used for a clean, reproducible base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3C38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C38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C38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C38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2B25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Shares outstanding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3C38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C38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C38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C38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2B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E3E0D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2.40bn shares (stockanalysis.com)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3C38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C38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C38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C38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2B25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Net debt / net cash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3C38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C38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C38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C38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2B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E3E0D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Net cash $7.81bn (cash $8.03bn, debt $211.98m) — stockanalysis.com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3C38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C38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C38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C38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2B25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Beta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3C38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C38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C38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C38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2B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E3E0D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1.56 (stockanalysis.com)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3C38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C38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C38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C38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2B25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Risk-free rate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3C38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C38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C38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C38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2B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E3E0D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 10-year Treasury yield, 4.62%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3C38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C38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C38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C38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2B25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FY0 revenue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3C38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C38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C38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C38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2B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E3E0D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FY2026 guidance $8.150-8.158bn (raised at Q2 2026 earnings, 3 Aug 2026), +82% YoY — the LARGEST guidance raise in company history per management commentary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3C38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C38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C38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C38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2B25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FY0 operating margin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3C38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C38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C38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C38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2B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E3E0D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~60% ADJUSTED (non-GAAP) operating margin, per FY2026 guided adjusted operating income of $4.889-4.897bn — explicitly NOT the GAAP margin, which is materially lower due to stock-based compensation; used here because it is management's own guided FCF-relevant figure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3C38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C38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C38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C38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2B25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growth path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3C38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C38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C38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C38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2B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E3E0D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Y1 anchored to FY26 guided +82%, tapering sharply — explicitly modeling the pitch's own 'priced for perfection' risk: even a moderate deceleration from ~60% to ~40% growth is the central bear-case mechanism, so the taper here is intentionally steep, not optimistic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3C38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C38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C38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C38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2B25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Bloombruh Research Toolkit — Palantir Technologies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2026-08-06T04:01:12Z</dcterms:created>
  <dcterms:modified xsi:type="dcterms:W3CDTF">2026-08-06T04:01:12Z</dcterms:modified>
</cp:coreProperties>
</file>